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7D7D"/>
    <a:srgbClr val="097C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15"/>
    <p:restoredTop sz="94694"/>
  </p:normalViewPr>
  <p:slideViewPr>
    <p:cSldViewPr snapToGrid="0" snapToObjects="1">
      <p:cViewPr varScale="1">
        <p:scale>
          <a:sx n="116" d="100"/>
          <a:sy n="116" d="100"/>
        </p:scale>
        <p:origin x="216" y="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08F7E-856C-C84D-B9BF-19B4DB0C19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D4E222-9D90-E540-99C0-EE01E7E73F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490FC-6E54-6E42-9089-9CC054EE6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64AE2-17C3-3049-AC17-C1A1C0BB3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63D52-B9DF-054C-B2B6-B226AEB73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8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D255-8746-854B-A500-FCE00E7AF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77485-7965-3442-8551-C15E4B5DE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D2C45-74AB-9044-A293-F9F9B3273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35010-179F-6F4A-AE7D-D401D8BAC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F6E48-36E9-2745-BCAB-9585E291E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146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09EB5-9321-C44D-9785-AB5E41517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C48AD-6005-4348-B1BC-F2295397A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A469BB-FEB7-DC4C-9B99-73EA9248F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C2FDF-A3B1-2D43-968E-406F80BF3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5ABF0-5406-B046-B41D-1C7B2834D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713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57312-95CA-E64B-A902-5B4AD1E2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C3EF7-8969-EB4C-97F5-DC3FA996CE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E4B2CF-DC59-5847-B32B-D441ADA415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4257F2-B573-3544-8FB3-06D447EE4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0F645-01EC-2949-8E26-A7AC5A28B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FA1D29-7887-1949-B993-B12DBD146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15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22B61-6A3F-3B48-AAE5-237EBFBF7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A1958F-86F2-DD44-9E43-8061A90A4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DAC8B3-0D0B-1944-9BFE-4BE4D719A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2C72D0-31F5-0A41-BED4-94FC3E097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EC735F-2B72-9748-B030-975ED4DE14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F0050-BE61-134A-8DC3-AEB68F224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58553C-EE30-8843-854A-E89839DF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7807D3-3014-0542-BDD4-8B68189C0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865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E9B73-E925-864B-A767-56B6D478C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442327-86B7-F947-ACC0-AF6D07A40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598B67-9603-7C4B-897C-6B50F2659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37854E-BF9A-0D41-8C01-37FA4A940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329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7D0634-50E1-0D4B-A247-87C6361F2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82FDD2-E2B4-B248-A01C-A2CC5EC8C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34AE2-741F-474C-A481-A4BC94A6B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05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3C0B-3A4D-8841-A481-8E09DCAB3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3FF6F-0B97-5145-9FD6-17778614F5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7BDCF-11EA-1744-A988-2FFC65FED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1F3C8C-1BF9-934E-9E38-63D6FA027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3D0E7B-A91D-8D4C-8AF0-09384921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C21D5F-9A6E-3D4B-80E4-F708AC1D8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742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3B542-3A62-1F4F-9B57-AFADFCEAB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A39B6A-2D68-4D4C-8643-B912D84CAB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19C95A-1F75-9C44-BC3C-45D7205714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2DA4F5-275C-9341-9709-F967492F1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6A71F-BC7B-5C47-A0F3-7E0B63728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8F2C17-17F6-B340-9FF1-1D3C7700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896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A7B0A-FF02-BC49-9AB9-F19C8CBAE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9F8DCD-5BD5-F84C-862A-386817621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0F827-E3CA-D343-B1D0-738811AC3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FDE24-D38B-074E-BEAC-57B2404C2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51F18-0E3E-C04B-9CE8-716C18C0D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084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EDB3E1-4407-3B4F-993C-EB4B71BEA9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B2D327-467C-7945-B8D2-65D6D96E23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7381A-476A-404B-9960-9D9AC1E75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B5DC8-1005-2A44-B623-A84CD6998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97CCA-8817-6844-B247-48B2F7AAA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062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A205E5-28C3-1640-BD2B-26C2F794F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1337C-D2F1-304A-8267-A7853A781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80126-3025-3C4F-A523-69664A928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E00808-534E-DF4B-BFA1-314377E96F76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FE64D-CB79-6449-902C-CCD7EC31BC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20F28-FBE9-5649-B339-32F60EEB80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3276C1-4BCA-094B-B307-37BFEA0A7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91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EFC56B4-F99B-57AB-02CD-003FD1588361}"/>
              </a:ext>
            </a:extLst>
          </p:cNvPr>
          <p:cNvSpPr/>
          <p:nvPr/>
        </p:nvSpPr>
        <p:spPr>
          <a:xfrm>
            <a:off x="8495507" y="1871753"/>
            <a:ext cx="1227472" cy="877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57F12E-9BF2-2D4D-A8E2-CE4FB016F25C}"/>
              </a:ext>
            </a:extLst>
          </p:cNvPr>
          <p:cNvSpPr/>
          <p:nvPr/>
        </p:nvSpPr>
        <p:spPr>
          <a:xfrm>
            <a:off x="2203978" y="1134738"/>
            <a:ext cx="7898489" cy="3955056"/>
          </a:xfrm>
          <a:prstGeom prst="rect">
            <a:avLst/>
          </a:prstGeom>
          <a:solidFill>
            <a:schemeClr val="bg1"/>
          </a:solidFill>
          <a:ln w="444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8CC5B81-788C-7A4A-8795-795FD1EFF9D7}"/>
              </a:ext>
            </a:extLst>
          </p:cNvPr>
          <p:cNvSpPr/>
          <p:nvPr/>
        </p:nvSpPr>
        <p:spPr>
          <a:xfrm>
            <a:off x="4988660" y="1473111"/>
            <a:ext cx="1200908" cy="4687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entaur" panose="02030504050205020304" pitchFamily="18" charset="77"/>
              </a:rPr>
              <a:t>Endorser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B90F6C-F048-3F45-AFBE-05E24A671031}"/>
              </a:ext>
            </a:extLst>
          </p:cNvPr>
          <p:cNvSpPr/>
          <p:nvPr/>
        </p:nvSpPr>
        <p:spPr>
          <a:xfrm>
            <a:off x="2294840" y="2216682"/>
            <a:ext cx="1064194" cy="90211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entaur" panose="02030504050205020304" pitchFamily="18" charset="77"/>
              </a:rPr>
              <a:t>Gossip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19E80AD-BB44-1A42-8B83-5A3AD5D72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144047"/>
              </p:ext>
            </p:extLst>
          </p:nvPr>
        </p:nvGraphicFramePr>
        <p:xfrm>
          <a:off x="3519609" y="272519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971141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8709082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70743484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009199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864592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A98DB488-01EA-B641-87C8-4A6B129B43C1}"/>
              </a:ext>
            </a:extLst>
          </p:cNvPr>
          <p:cNvSpPr txBox="1"/>
          <p:nvPr/>
        </p:nvSpPr>
        <p:spPr>
          <a:xfrm>
            <a:off x="3319107" y="2354443"/>
            <a:ext cx="13767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entaur" panose="02030504050205020304" pitchFamily="18" charset="77"/>
              </a:rPr>
              <a:t>Block Queue</a:t>
            </a:r>
          </a:p>
        </p:txBody>
      </p:sp>
      <p:sp>
        <p:nvSpPr>
          <p:cNvPr id="19" name="Cube 18">
            <a:extLst>
              <a:ext uri="{FF2B5EF4-FFF2-40B4-BE49-F238E27FC236}">
                <a16:creationId xmlns:a16="http://schemas.microsoft.com/office/drawing/2014/main" id="{A2A8FBD1-6F62-C54C-BC53-E2D59EAADFF4}"/>
              </a:ext>
            </a:extLst>
          </p:cNvPr>
          <p:cNvSpPr/>
          <p:nvPr/>
        </p:nvSpPr>
        <p:spPr>
          <a:xfrm>
            <a:off x="2376182" y="3193689"/>
            <a:ext cx="2143380" cy="688856"/>
          </a:xfrm>
          <a:prstGeom prst="cub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b="1" dirty="0">
                <a:solidFill>
                  <a:schemeClr val="tx1"/>
                </a:solidFill>
                <a:latin typeface="Centaur" panose="02030504050205020304" pitchFamily="18" charset="77"/>
              </a:rPr>
              <a:t>Endorsement policy validator</a:t>
            </a:r>
          </a:p>
        </p:txBody>
      </p:sp>
      <p:sp>
        <p:nvSpPr>
          <p:cNvPr id="20" name="Cube 19">
            <a:extLst>
              <a:ext uri="{FF2B5EF4-FFF2-40B4-BE49-F238E27FC236}">
                <a16:creationId xmlns:a16="http://schemas.microsoft.com/office/drawing/2014/main" id="{42AAAE5A-BCCD-FA49-804A-6650D7D7BBB0}"/>
              </a:ext>
            </a:extLst>
          </p:cNvPr>
          <p:cNvSpPr/>
          <p:nvPr/>
        </p:nvSpPr>
        <p:spPr>
          <a:xfrm>
            <a:off x="2337103" y="3933448"/>
            <a:ext cx="2182459" cy="702077"/>
          </a:xfrm>
          <a:prstGeom prst="cub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b="1" dirty="0">
                <a:solidFill>
                  <a:schemeClr val="tx1"/>
                </a:solidFill>
                <a:latin typeface="Centaur" panose="02030504050205020304" pitchFamily="18" charset="77"/>
              </a:rPr>
              <a:t>Serializability validator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D6277FEF-0F6C-7749-AD34-B201F814D62D}"/>
              </a:ext>
            </a:extLst>
          </p:cNvPr>
          <p:cNvSpPr/>
          <p:nvPr/>
        </p:nvSpPr>
        <p:spPr>
          <a:xfrm>
            <a:off x="6265288" y="1240197"/>
            <a:ext cx="3722734" cy="375231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sz="2000" b="1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r>
              <a:rPr lang="en-US" sz="2000" b="1" dirty="0">
                <a:solidFill>
                  <a:schemeClr val="tx1"/>
                </a:solidFill>
                <a:latin typeface="Centaur" panose="02030504050205020304" pitchFamily="18" charset="77"/>
              </a:rPr>
              <a:t>Committer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DCF44230-29D4-1F4A-8656-97425F490970}"/>
              </a:ext>
            </a:extLst>
          </p:cNvPr>
          <p:cNvSpPr/>
          <p:nvPr/>
        </p:nvSpPr>
        <p:spPr>
          <a:xfrm>
            <a:off x="2319798" y="1556185"/>
            <a:ext cx="2375688" cy="38565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Centaur" panose="02030504050205020304" pitchFamily="18" charset="77"/>
              </a:rPr>
              <a:t>Pvtdata Dissemination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7FACF59-1ACC-14E1-07F3-F57182987DE2}"/>
              </a:ext>
            </a:extLst>
          </p:cNvPr>
          <p:cNvSpPr/>
          <p:nvPr/>
        </p:nvSpPr>
        <p:spPr>
          <a:xfrm>
            <a:off x="2305727" y="1986411"/>
            <a:ext cx="2843046" cy="38565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Centaur" panose="02030504050205020304" pitchFamily="18" charset="77"/>
              </a:rPr>
              <a:t>Missing Pvtdata Reconciler</a:t>
            </a:r>
          </a:p>
        </p:txBody>
      </p:sp>
      <p:pic>
        <p:nvPicPr>
          <p:cNvPr id="28" name="Picture 27" descr="A diagram of a block store&#10;&#10;AI-generated content may be incorrect.">
            <a:extLst>
              <a:ext uri="{FF2B5EF4-FFF2-40B4-BE49-F238E27FC236}">
                <a16:creationId xmlns:a16="http://schemas.microsoft.com/office/drawing/2014/main" id="{3BFAF686-3CFD-BDFB-09F1-88B837AA5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312" r="67536" b="53481"/>
          <a:stretch>
            <a:fillRect/>
          </a:stretch>
        </p:blipFill>
        <p:spPr>
          <a:xfrm>
            <a:off x="4652687" y="3398418"/>
            <a:ext cx="1420823" cy="812480"/>
          </a:xfrm>
          <a:prstGeom prst="rect">
            <a:avLst/>
          </a:prstGeom>
        </p:spPr>
      </p:pic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A0707CD-5DD9-11D8-4183-99B4754FF949}"/>
              </a:ext>
            </a:extLst>
          </p:cNvPr>
          <p:cNvCxnSpPr>
            <a:cxnSpLocks/>
            <a:stCxn id="8" idx="2"/>
            <a:endCxn id="28" idx="0"/>
          </p:cNvCxnSpPr>
          <p:nvPr/>
        </p:nvCxnSpPr>
        <p:spPr>
          <a:xfrm rot="5400000">
            <a:off x="4747818" y="2557121"/>
            <a:ext cx="1456579" cy="22601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Curved Connector 36">
            <a:extLst>
              <a:ext uri="{FF2B5EF4-FFF2-40B4-BE49-F238E27FC236}">
                <a16:creationId xmlns:a16="http://schemas.microsoft.com/office/drawing/2014/main" id="{6E0228AA-EB44-CA77-9C18-787854056642}"/>
              </a:ext>
            </a:extLst>
          </p:cNvPr>
          <p:cNvCxnSpPr>
            <a:cxnSpLocks/>
            <a:stCxn id="70" idx="3"/>
            <a:endCxn id="28" idx="0"/>
          </p:cNvCxnSpPr>
          <p:nvPr/>
        </p:nvCxnSpPr>
        <p:spPr>
          <a:xfrm>
            <a:off x="4695486" y="1749012"/>
            <a:ext cx="667613" cy="1649406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Vertical Scroll 38">
            <a:extLst>
              <a:ext uri="{FF2B5EF4-FFF2-40B4-BE49-F238E27FC236}">
                <a16:creationId xmlns:a16="http://schemas.microsoft.com/office/drawing/2014/main" id="{CF9EA220-8834-58F6-E2E8-3B1166E95483}"/>
              </a:ext>
            </a:extLst>
          </p:cNvPr>
          <p:cNvSpPr/>
          <p:nvPr/>
        </p:nvSpPr>
        <p:spPr>
          <a:xfrm>
            <a:off x="6342631" y="2191607"/>
            <a:ext cx="1603608" cy="369793"/>
          </a:xfrm>
          <a:prstGeom prst="verticalScroll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Centaur" panose="02030504050205020304" pitchFamily="18" charset="77"/>
              </a:rPr>
              <a:t>Block Store</a:t>
            </a:r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7806DC78-7A2C-01EA-98E0-73E8841FB6B1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5148773" y="2179238"/>
            <a:ext cx="1364153" cy="1153436"/>
          </a:xfrm>
          <a:prstGeom prst="curvedConnector3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3" name="Can 62">
            <a:extLst>
              <a:ext uri="{FF2B5EF4-FFF2-40B4-BE49-F238E27FC236}">
                <a16:creationId xmlns:a16="http://schemas.microsoft.com/office/drawing/2014/main" id="{8E6DDCE6-4B5B-7D71-C2AB-B7B17FACA40B}"/>
              </a:ext>
            </a:extLst>
          </p:cNvPr>
          <p:cNvSpPr/>
          <p:nvPr/>
        </p:nvSpPr>
        <p:spPr>
          <a:xfrm>
            <a:off x="8295767" y="3187153"/>
            <a:ext cx="1427018" cy="375224"/>
          </a:xfrm>
          <a:prstGeom prst="ca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entaur" panose="02030504050205020304" pitchFamily="18" charset="77"/>
              </a:rPr>
              <a:t>History DB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55D549B-7B43-96BD-7F8E-DC798F92D723}"/>
              </a:ext>
            </a:extLst>
          </p:cNvPr>
          <p:cNvGrpSpPr/>
          <p:nvPr/>
        </p:nvGrpSpPr>
        <p:grpSpPr>
          <a:xfrm>
            <a:off x="6512926" y="2854826"/>
            <a:ext cx="1595770" cy="1873868"/>
            <a:chOff x="9773521" y="3301452"/>
            <a:chExt cx="1249999" cy="1828800"/>
          </a:xfrm>
          <a:solidFill>
            <a:schemeClr val="bg1">
              <a:lumMod val="50000"/>
            </a:schemeClr>
          </a:solidFill>
        </p:grpSpPr>
        <p:sp>
          <p:nvSpPr>
            <p:cNvPr id="2" name="Can 1">
              <a:extLst>
                <a:ext uri="{FF2B5EF4-FFF2-40B4-BE49-F238E27FC236}">
                  <a16:creationId xmlns:a16="http://schemas.microsoft.com/office/drawing/2014/main" id="{C74FF398-C669-17C7-3039-55CFBD4A5869}"/>
                </a:ext>
              </a:extLst>
            </p:cNvPr>
            <p:cNvSpPr/>
            <p:nvPr/>
          </p:nvSpPr>
          <p:spPr>
            <a:xfrm>
              <a:off x="9773521" y="3301452"/>
              <a:ext cx="1249999" cy="1828800"/>
            </a:xfrm>
            <a:prstGeom prst="can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Centaur" panose="02030504050205020304" pitchFamily="18" charset="77"/>
                </a:rPr>
                <a:t>Private</a:t>
              </a:r>
              <a:br>
                <a:rPr lang="en-US" dirty="0">
                  <a:solidFill>
                    <a:schemeClr val="bg1"/>
                  </a:solidFill>
                  <a:latin typeface="Centaur" panose="02030504050205020304" pitchFamily="18" charset="77"/>
                </a:rPr>
              </a:br>
              <a:r>
                <a:rPr lang="en-US" dirty="0">
                  <a:solidFill>
                    <a:schemeClr val="bg1"/>
                  </a:solidFill>
                  <a:latin typeface="Centaur" panose="02030504050205020304" pitchFamily="18" charset="77"/>
                </a:rPr>
                <a:t>Data Store</a:t>
              </a:r>
            </a:p>
            <a:p>
              <a:pPr algn="ctr"/>
              <a:endParaRPr lang="en-US" dirty="0">
                <a:latin typeface="Centaur" panose="02030504050205020304" pitchFamily="18" charset="77"/>
              </a:endParaRPr>
            </a:p>
            <a:p>
              <a:pPr algn="ctr"/>
              <a:endParaRPr lang="en-US" dirty="0">
                <a:latin typeface="Centaur" panose="02030504050205020304" pitchFamily="18" charset="77"/>
              </a:endParaRPr>
            </a:p>
            <a:p>
              <a:pPr algn="ctr"/>
              <a:endParaRPr lang="en-US" dirty="0">
                <a:latin typeface="Centaur" panose="02030504050205020304" pitchFamily="18" charset="77"/>
              </a:endParaRPr>
            </a:p>
            <a:p>
              <a:pPr algn="ctr"/>
              <a:endParaRPr lang="en-US" dirty="0">
                <a:latin typeface="Centaur" panose="02030504050205020304" pitchFamily="18" charset="77"/>
              </a:endParaRPr>
            </a:p>
            <a:p>
              <a:pPr algn="ctr"/>
              <a:endParaRPr lang="en-US" dirty="0">
                <a:latin typeface="Centaur" panose="02030504050205020304" pitchFamily="18" charset="77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1CC55B9-DDB4-B7C3-6C42-B5F46E485830}"/>
                </a:ext>
              </a:extLst>
            </p:cNvPr>
            <p:cNvSpPr/>
            <p:nvPr/>
          </p:nvSpPr>
          <p:spPr>
            <a:xfrm>
              <a:off x="9854897" y="4385953"/>
              <a:ext cx="1090352" cy="626713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Centaur" panose="02030504050205020304" pitchFamily="18" charset="77"/>
                </a:rPr>
                <a:t>Missing</a:t>
              </a:r>
              <a:br>
                <a:rPr lang="en-US" sz="1600" dirty="0">
                  <a:latin typeface="Centaur" panose="02030504050205020304" pitchFamily="18" charset="77"/>
                </a:rPr>
              </a:br>
              <a:r>
                <a:rPr lang="en-US" sz="1600" dirty="0">
                  <a:latin typeface="Centaur" panose="02030504050205020304" pitchFamily="18" charset="77"/>
                </a:rPr>
                <a:t>eligible &amp; ineligible data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32E57D-B806-D641-4E00-D831CFE463AF}"/>
                </a:ext>
              </a:extLst>
            </p:cNvPr>
            <p:cNvSpPr/>
            <p:nvPr/>
          </p:nvSpPr>
          <p:spPr>
            <a:xfrm>
              <a:off x="9854897" y="3884702"/>
              <a:ext cx="1090352" cy="43701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Centaur" panose="02030504050205020304" pitchFamily="18" charset="77"/>
                </a:rPr>
                <a:t>Private data history</a:t>
              </a:r>
            </a:p>
          </p:txBody>
        </p:sp>
      </p:grpSp>
      <p:sp>
        <p:nvSpPr>
          <p:cNvPr id="33" name="Can 32">
            <a:extLst>
              <a:ext uri="{FF2B5EF4-FFF2-40B4-BE49-F238E27FC236}">
                <a16:creationId xmlns:a16="http://schemas.microsoft.com/office/drawing/2014/main" id="{E4417A37-E2C3-24F3-00D3-D3F8EF3F3E7E}"/>
              </a:ext>
            </a:extLst>
          </p:cNvPr>
          <p:cNvSpPr/>
          <p:nvPr/>
        </p:nvSpPr>
        <p:spPr>
          <a:xfrm>
            <a:off x="8184415" y="1313175"/>
            <a:ext cx="1614283" cy="1680159"/>
          </a:xfrm>
          <a:prstGeom prst="ca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Centaur" panose="02030504050205020304" pitchFamily="18" charset="77"/>
            </a:endParaRPr>
          </a:p>
          <a:p>
            <a:pPr algn="ctr"/>
            <a:endParaRPr lang="en-US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dirty="0">
              <a:solidFill>
                <a:schemeClr val="tx1"/>
              </a:solidFill>
              <a:latin typeface="Centaur" panose="02030504050205020304" pitchFamily="18" charset="77"/>
            </a:endParaRPr>
          </a:p>
          <a:p>
            <a:pPr algn="ctr"/>
            <a:endParaRPr lang="en-US" dirty="0">
              <a:latin typeface="Centaur" panose="02030504050205020304" pitchFamily="18" charset="77"/>
            </a:endParaRPr>
          </a:p>
          <a:p>
            <a:pPr algn="ctr"/>
            <a:endParaRPr lang="en-US" dirty="0">
              <a:latin typeface="Centaur" panose="02030504050205020304" pitchFamily="18" charset="77"/>
            </a:endParaRPr>
          </a:p>
          <a:p>
            <a:pPr algn="ctr"/>
            <a:endParaRPr lang="en-US" dirty="0">
              <a:latin typeface="Centaur" panose="02030504050205020304" pitchFamily="18" charset="77"/>
            </a:endParaRPr>
          </a:p>
          <a:p>
            <a:pPr algn="ctr"/>
            <a:endParaRPr lang="en-US" dirty="0">
              <a:latin typeface="Centaur" panose="02030504050205020304" pitchFamily="18" charset="77"/>
            </a:endParaRPr>
          </a:p>
          <a:p>
            <a:pPr algn="ctr"/>
            <a:endParaRPr lang="en-US" dirty="0">
              <a:latin typeface="Centaur" panose="02030504050205020304" pitchFamily="18" charset="77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5AAE8B2-47E8-9637-0222-064B06561DB4}"/>
              </a:ext>
            </a:extLst>
          </p:cNvPr>
          <p:cNvGrpSpPr/>
          <p:nvPr/>
        </p:nvGrpSpPr>
        <p:grpSpPr>
          <a:xfrm>
            <a:off x="8210903" y="2017205"/>
            <a:ext cx="1538468" cy="885387"/>
            <a:chOff x="10206681" y="1941839"/>
            <a:chExt cx="1250504" cy="885387"/>
          </a:xfrm>
        </p:grpSpPr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F2F93884-B990-C568-5452-0135EF3EBDF0}"/>
                </a:ext>
              </a:extLst>
            </p:cNvPr>
            <p:cNvSpPr/>
            <p:nvPr/>
          </p:nvSpPr>
          <p:spPr>
            <a:xfrm>
              <a:off x="10206681" y="1941839"/>
              <a:ext cx="1250504" cy="885387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652C365-D302-5326-7239-3D3AAFB0D2E3}"/>
                </a:ext>
              </a:extLst>
            </p:cNvPr>
            <p:cNvSpPr/>
            <p:nvPr/>
          </p:nvSpPr>
          <p:spPr>
            <a:xfrm>
              <a:off x="10278218" y="2027202"/>
              <a:ext cx="1090352" cy="2021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Centaur" panose="02030504050205020304" pitchFamily="18" charset="77"/>
                </a:rPr>
                <a:t>Public States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FC54E80-E70D-1409-2F0C-2FED60372ECD}"/>
                </a:ext>
              </a:extLst>
            </p:cNvPr>
            <p:cNvSpPr/>
            <p:nvPr/>
          </p:nvSpPr>
          <p:spPr>
            <a:xfrm>
              <a:off x="10253417" y="2287167"/>
              <a:ext cx="1144242" cy="20216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  <a:latin typeface="Centaur" panose="02030504050205020304" pitchFamily="18" charset="77"/>
                </a:rPr>
                <a:t>Hashed States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40FD0534-8292-200C-018D-80C6C3F71B2E}"/>
                </a:ext>
              </a:extLst>
            </p:cNvPr>
            <p:cNvSpPr/>
            <p:nvPr/>
          </p:nvSpPr>
          <p:spPr>
            <a:xfrm>
              <a:off x="10278218" y="2547132"/>
              <a:ext cx="1090352" cy="20216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  <a:latin typeface="Centaur" panose="02030504050205020304" pitchFamily="18" charset="77"/>
                </a:rPr>
                <a:t>Private States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68A9C9D-E599-D72D-CE3E-5C9BF647BB54}"/>
              </a:ext>
            </a:extLst>
          </p:cNvPr>
          <p:cNvSpPr txBox="1"/>
          <p:nvPr/>
        </p:nvSpPr>
        <p:spPr>
          <a:xfrm>
            <a:off x="8365484" y="1579348"/>
            <a:ext cx="11785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Centaur" panose="02030504050205020304" pitchFamily="18" charset="77"/>
              </a:rPr>
              <a:t>Namespace per</a:t>
            </a:r>
            <a:br>
              <a:rPr lang="en-US" sz="1400" dirty="0">
                <a:latin typeface="Centaur" panose="02030504050205020304" pitchFamily="18" charset="77"/>
              </a:rPr>
            </a:br>
            <a:r>
              <a:rPr lang="en-US" sz="1400" dirty="0">
                <a:latin typeface="Centaur" panose="02030504050205020304" pitchFamily="18" charset="77"/>
              </a:rPr>
              <a:t>chaincode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899E352-8C84-BFD1-13B8-ADDAC4B219B8}"/>
              </a:ext>
            </a:extLst>
          </p:cNvPr>
          <p:cNvSpPr/>
          <p:nvPr/>
        </p:nvSpPr>
        <p:spPr>
          <a:xfrm>
            <a:off x="4007469" y="4366657"/>
            <a:ext cx="345260" cy="26886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8B474B9-634E-07A8-92F8-5336040789BB}"/>
              </a:ext>
            </a:extLst>
          </p:cNvPr>
          <p:cNvSpPr/>
          <p:nvPr/>
        </p:nvSpPr>
        <p:spPr>
          <a:xfrm>
            <a:off x="3980464" y="3677801"/>
            <a:ext cx="345260" cy="19687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FD57C6-2BA0-362B-AB17-63447F72ACD9}"/>
              </a:ext>
            </a:extLst>
          </p:cNvPr>
          <p:cNvSpPr/>
          <p:nvPr/>
        </p:nvSpPr>
        <p:spPr>
          <a:xfrm>
            <a:off x="4562361" y="3268016"/>
            <a:ext cx="189248" cy="1845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14F8B2-BDD9-0449-E8F7-7874AB8EECF6}"/>
              </a:ext>
            </a:extLst>
          </p:cNvPr>
          <p:cNvSpPr/>
          <p:nvPr/>
        </p:nvSpPr>
        <p:spPr>
          <a:xfrm>
            <a:off x="4597187" y="3748448"/>
            <a:ext cx="102157" cy="866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B1155F6-AB0B-8004-898C-EAA2B7AF40BA}"/>
              </a:ext>
            </a:extLst>
          </p:cNvPr>
          <p:cNvCxnSpPr>
            <a:cxnSpLocks/>
          </p:cNvCxnSpPr>
          <p:nvPr/>
        </p:nvCxnSpPr>
        <p:spPr>
          <a:xfrm>
            <a:off x="3937000" y="3068238"/>
            <a:ext cx="0" cy="17520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27CC911-16C7-E073-A8F1-C1B565C75843}"/>
              </a:ext>
            </a:extLst>
          </p:cNvPr>
          <p:cNvCxnSpPr>
            <a:cxnSpLocks/>
          </p:cNvCxnSpPr>
          <p:nvPr/>
        </p:nvCxnSpPr>
        <p:spPr>
          <a:xfrm>
            <a:off x="3924300" y="3874679"/>
            <a:ext cx="0" cy="19426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5871FA6-2C90-D9D1-9C46-B0452BABC067}"/>
              </a:ext>
            </a:extLst>
          </p:cNvPr>
          <p:cNvCxnSpPr>
            <a:cxnSpLocks/>
          </p:cNvCxnSpPr>
          <p:nvPr/>
        </p:nvCxnSpPr>
        <p:spPr>
          <a:xfrm>
            <a:off x="4519562" y="4317914"/>
            <a:ext cx="1745726" cy="1417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Can 4">
            <a:extLst>
              <a:ext uri="{FF2B5EF4-FFF2-40B4-BE49-F238E27FC236}">
                <a16:creationId xmlns:a16="http://schemas.microsoft.com/office/drawing/2014/main" id="{B79DB960-209C-1661-1C7C-896B98D54AC1}"/>
              </a:ext>
            </a:extLst>
          </p:cNvPr>
          <p:cNvSpPr/>
          <p:nvPr/>
        </p:nvSpPr>
        <p:spPr>
          <a:xfrm>
            <a:off x="6522070" y="1340626"/>
            <a:ext cx="1210968" cy="501226"/>
          </a:xfrm>
          <a:prstGeom prst="can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aur" panose="02030504050205020304" pitchFamily="18" charset="77"/>
              </a:rPr>
              <a:t>Purge DB</a:t>
            </a:r>
          </a:p>
        </p:txBody>
      </p:sp>
      <p:sp>
        <p:nvSpPr>
          <p:cNvPr id="23" name="Can 22">
            <a:extLst>
              <a:ext uri="{FF2B5EF4-FFF2-40B4-BE49-F238E27FC236}">
                <a16:creationId xmlns:a16="http://schemas.microsoft.com/office/drawing/2014/main" id="{5AA2E241-61B2-9ACF-E522-B167001E870A}"/>
              </a:ext>
            </a:extLst>
          </p:cNvPr>
          <p:cNvSpPr/>
          <p:nvPr/>
        </p:nvSpPr>
        <p:spPr>
          <a:xfrm>
            <a:off x="4699344" y="3427216"/>
            <a:ext cx="1306862" cy="740240"/>
          </a:xfrm>
          <a:prstGeom prst="can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aur" panose="02030504050205020304" pitchFamily="18" charset="77"/>
              </a:rPr>
              <a:t>Transient</a:t>
            </a:r>
            <a:br>
              <a:rPr lang="en-US" dirty="0">
                <a:latin typeface="Centaur" panose="02030504050205020304" pitchFamily="18" charset="77"/>
              </a:rPr>
            </a:br>
            <a:r>
              <a:rPr lang="en-US" dirty="0">
                <a:latin typeface="Centaur" panose="02030504050205020304" pitchFamily="18" charset="77"/>
              </a:rPr>
              <a:t>Store</a:t>
            </a:r>
          </a:p>
        </p:txBody>
      </p:sp>
      <p:sp>
        <p:nvSpPr>
          <p:cNvPr id="26" name="Can 25">
            <a:extLst>
              <a:ext uri="{FF2B5EF4-FFF2-40B4-BE49-F238E27FC236}">
                <a16:creationId xmlns:a16="http://schemas.microsoft.com/office/drawing/2014/main" id="{FBB32E3A-E1D8-C238-EAB8-23490A9620CC}"/>
              </a:ext>
            </a:extLst>
          </p:cNvPr>
          <p:cNvSpPr/>
          <p:nvPr/>
        </p:nvSpPr>
        <p:spPr>
          <a:xfrm>
            <a:off x="8414038" y="3761455"/>
            <a:ext cx="1303191" cy="882235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entaur" panose="02030504050205020304" pitchFamily="18" charset="77"/>
              </a:rPr>
              <a:t>Private Data</a:t>
            </a:r>
            <a:br>
              <a:rPr lang="en-US" dirty="0">
                <a:solidFill>
                  <a:schemeClr val="bg1"/>
                </a:solidFill>
                <a:latin typeface="Centaur" panose="02030504050205020304" pitchFamily="18" charset="77"/>
              </a:rPr>
            </a:br>
            <a:r>
              <a:rPr lang="en-US" dirty="0">
                <a:solidFill>
                  <a:schemeClr val="bg1"/>
                </a:solidFill>
                <a:latin typeface="Centaur" panose="02030504050205020304" pitchFamily="18" charset="77"/>
              </a:rPr>
              <a:t>Collection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entaur" panose="02030504050205020304" pitchFamily="18" charset="77"/>
              </a:rPr>
              <a:t>Config DB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BD09B7-404A-7D19-ACC2-7F0026713516}"/>
              </a:ext>
            </a:extLst>
          </p:cNvPr>
          <p:cNvSpPr txBox="1"/>
          <p:nvPr/>
        </p:nvSpPr>
        <p:spPr>
          <a:xfrm>
            <a:off x="8638888" y="1295629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entaur" panose="02030504050205020304" pitchFamily="18" charset="77"/>
              </a:rPr>
              <a:t>State DB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79D2ED4-2B32-EB41-6D99-A08FFEFDCDBF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3369445" y="2910616"/>
            <a:ext cx="150164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DBAA6554-CE7C-0953-615A-8CFEB07EDAC8}"/>
              </a:ext>
            </a:extLst>
          </p:cNvPr>
          <p:cNvSpPr/>
          <p:nvPr/>
        </p:nvSpPr>
        <p:spPr>
          <a:xfrm>
            <a:off x="5900880" y="1835563"/>
            <a:ext cx="262200" cy="10309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8DFA485C-9F89-EBE7-B1DB-E6898AA9FB87}"/>
              </a:ext>
            </a:extLst>
          </p:cNvPr>
          <p:cNvSpPr/>
          <p:nvPr/>
        </p:nvSpPr>
        <p:spPr>
          <a:xfrm>
            <a:off x="2376182" y="5177927"/>
            <a:ext cx="271806" cy="2302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83846E9-BB09-C2C9-A8EC-38DA0695F01D}"/>
              </a:ext>
            </a:extLst>
          </p:cNvPr>
          <p:cNvSpPr/>
          <p:nvPr/>
        </p:nvSpPr>
        <p:spPr>
          <a:xfrm>
            <a:off x="4618253" y="5177927"/>
            <a:ext cx="271806" cy="230231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45948B8-4DB1-91B0-CE7E-0D1BCC365197}"/>
              </a:ext>
            </a:extLst>
          </p:cNvPr>
          <p:cNvSpPr txBox="1"/>
          <p:nvPr/>
        </p:nvSpPr>
        <p:spPr>
          <a:xfrm>
            <a:off x="2614392" y="5121345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entaur" panose="02030504050205020304" pitchFamily="18" charset="77"/>
              </a:rPr>
              <a:t>Existing components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24CB991-32D2-8DDB-FA6D-FF6F50DBDB06}"/>
              </a:ext>
            </a:extLst>
          </p:cNvPr>
          <p:cNvSpPr txBox="1"/>
          <p:nvPr/>
        </p:nvSpPr>
        <p:spPr>
          <a:xfrm>
            <a:off x="4888196" y="5118592"/>
            <a:ext cx="1670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entaur" panose="02030504050205020304" pitchFamily="18" charset="77"/>
              </a:rPr>
              <a:t>New components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62430D2-D764-6102-107D-BFB6BF453155}"/>
              </a:ext>
            </a:extLst>
          </p:cNvPr>
          <p:cNvSpPr txBox="1"/>
          <p:nvPr/>
        </p:nvSpPr>
        <p:spPr>
          <a:xfrm>
            <a:off x="6618033" y="5149370"/>
            <a:ext cx="3592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All stores and DB uses levelDB storage library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B4CAB86-F3B8-D421-5249-3FA4365D0956}"/>
              </a:ext>
            </a:extLst>
          </p:cNvPr>
          <p:cNvSpPr/>
          <p:nvPr/>
        </p:nvSpPr>
        <p:spPr>
          <a:xfrm>
            <a:off x="5383216" y="2604325"/>
            <a:ext cx="226016" cy="22033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1B91EF2-0EF9-9F31-F14B-4475E1E9BDC6}"/>
              </a:ext>
            </a:extLst>
          </p:cNvPr>
          <p:cNvSpPr/>
          <p:nvPr/>
        </p:nvSpPr>
        <p:spPr>
          <a:xfrm>
            <a:off x="5106096" y="2437809"/>
            <a:ext cx="226016" cy="22033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408CD6E-C519-DED9-A24D-8649A49AF36F}"/>
              </a:ext>
            </a:extLst>
          </p:cNvPr>
          <p:cNvSpPr/>
          <p:nvPr/>
        </p:nvSpPr>
        <p:spPr>
          <a:xfrm>
            <a:off x="3217874" y="2645787"/>
            <a:ext cx="226016" cy="22033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2ACC09A3-ED62-2970-469F-6B0CBC5C57F2}"/>
              </a:ext>
            </a:extLst>
          </p:cNvPr>
          <p:cNvSpPr/>
          <p:nvPr/>
        </p:nvSpPr>
        <p:spPr>
          <a:xfrm>
            <a:off x="4031857" y="3105556"/>
            <a:ext cx="226016" cy="22033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BD497A8-D1F9-1B62-0D83-E3B4974D06FC}"/>
              </a:ext>
            </a:extLst>
          </p:cNvPr>
          <p:cNvSpPr/>
          <p:nvPr/>
        </p:nvSpPr>
        <p:spPr>
          <a:xfrm>
            <a:off x="4558935" y="3513917"/>
            <a:ext cx="226016" cy="22033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324AD5E-EFE5-3889-8733-7FB76BCD35AC}"/>
              </a:ext>
            </a:extLst>
          </p:cNvPr>
          <p:cNvSpPr/>
          <p:nvPr/>
        </p:nvSpPr>
        <p:spPr>
          <a:xfrm>
            <a:off x="5195735" y="4348247"/>
            <a:ext cx="226016" cy="22033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A05601D1-B24E-F029-8A4C-8D72BFDD1C00}"/>
              </a:ext>
            </a:extLst>
          </p:cNvPr>
          <p:cNvSpPr/>
          <p:nvPr/>
        </p:nvSpPr>
        <p:spPr>
          <a:xfrm>
            <a:off x="6152836" y="3818197"/>
            <a:ext cx="226016" cy="22033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485C878-66BC-7F6E-C44C-E30120240741}"/>
              </a:ext>
            </a:extLst>
          </p:cNvPr>
          <p:cNvSpPr/>
          <p:nvPr/>
        </p:nvSpPr>
        <p:spPr>
          <a:xfrm>
            <a:off x="6106865" y="2993334"/>
            <a:ext cx="226016" cy="22033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</a:p>
        </p:txBody>
      </p:sp>
      <p:cxnSp>
        <p:nvCxnSpPr>
          <p:cNvPr id="91" name="Curved Connector 90">
            <a:extLst>
              <a:ext uri="{FF2B5EF4-FFF2-40B4-BE49-F238E27FC236}">
                <a16:creationId xmlns:a16="http://schemas.microsoft.com/office/drawing/2014/main" id="{A1436FAD-6697-6CBD-D161-3EE3A3D5BBF0}"/>
              </a:ext>
            </a:extLst>
          </p:cNvPr>
          <p:cNvCxnSpPr>
            <a:cxnSpLocks/>
            <a:stCxn id="19" idx="4"/>
            <a:endCxn id="23" idx="2"/>
          </p:cNvCxnSpPr>
          <p:nvPr/>
        </p:nvCxnSpPr>
        <p:spPr>
          <a:xfrm>
            <a:off x="4347348" y="3624224"/>
            <a:ext cx="351996" cy="173112"/>
          </a:xfrm>
          <a:prstGeom prst="curvedConnector3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3" name="Curved Connector 92">
            <a:extLst>
              <a:ext uri="{FF2B5EF4-FFF2-40B4-BE49-F238E27FC236}">
                <a16:creationId xmlns:a16="http://schemas.microsoft.com/office/drawing/2014/main" id="{05FE88D3-E61A-56B9-8D41-60A65971E56B}"/>
              </a:ext>
            </a:extLst>
          </p:cNvPr>
          <p:cNvCxnSpPr>
            <a:cxnSpLocks/>
            <a:stCxn id="19" idx="5"/>
          </p:cNvCxnSpPr>
          <p:nvPr/>
        </p:nvCxnSpPr>
        <p:spPr>
          <a:xfrm flipV="1">
            <a:off x="4519562" y="2304732"/>
            <a:ext cx="368634" cy="1147278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A493AEA1-F7C2-3462-DCBE-1FADCEE2E69C}"/>
              </a:ext>
            </a:extLst>
          </p:cNvPr>
          <p:cNvSpPr/>
          <p:nvPr/>
        </p:nvSpPr>
        <p:spPr>
          <a:xfrm>
            <a:off x="4813048" y="2907748"/>
            <a:ext cx="226016" cy="22033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36071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76</Words>
  <Application>Microsoft Macintosh PowerPoint</Application>
  <PresentationFormat>Widescreen</PresentationFormat>
  <Paragraphs>54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Centaur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Senthilnathan Natarajan</dc:creator>
  <cp:lastModifiedBy>Senthilnathan Natarajan</cp:lastModifiedBy>
  <cp:revision>12</cp:revision>
  <dcterms:created xsi:type="dcterms:W3CDTF">2020-03-31T14:23:47Z</dcterms:created>
  <dcterms:modified xsi:type="dcterms:W3CDTF">2026-02-26T05:23:34Z</dcterms:modified>
</cp:coreProperties>
</file>