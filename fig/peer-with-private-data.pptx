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7D7D"/>
    <a:srgbClr val="097C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17"/>
    <p:restoredTop sz="94694"/>
  </p:normalViewPr>
  <p:slideViewPr>
    <p:cSldViewPr snapToGrid="0" snapToObjects="1">
      <p:cViewPr varScale="1">
        <p:scale>
          <a:sx n="100" d="100"/>
          <a:sy n="100" d="100"/>
        </p:scale>
        <p:origin x="184" y="3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08F7E-856C-C84D-B9BF-19B4DB0C1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4E222-9D90-E540-99C0-EE01E7E73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490FC-6E54-6E42-9089-9CC054EE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64AE2-17C3-3049-AC17-C1A1C0BB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63D52-B9DF-054C-B2B6-B226AEB7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8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D255-8746-854B-A500-FCE00E7A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77485-7965-3442-8551-C15E4B5DE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D2C45-74AB-9044-A293-F9F9B327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35010-179F-6F4A-AE7D-D401D8BAC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F6E48-36E9-2745-BCAB-9585E291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4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09EB5-9321-C44D-9785-AB5E41517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C48AD-6005-4348-B1BC-F2295397A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469BB-FEB7-DC4C-9B99-73EA9248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C2FDF-A3B1-2D43-968E-406F80BF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5ABF0-5406-B046-B41D-1C7B2834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1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7312-95CA-E64B-A902-5B4AD1E2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C3EF7-8969-EB4C-97F5-DC3FA996C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4B2CF-DC59-5847-B32B-D441ADA41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57F2-B573-3544-8FB3-06D447EE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0F645-01EC-2949-8E26-A7AC5A28B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A1D29-7887-1949-B993-B12DBD14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1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22B61-6A3F-3B48-AAE5-237EBFBF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1958F-86F2-DD44-9E43-8061A90A4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AC8B3-0D0B-1944-9BFE-4BE4D719A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2C72D0-31F5-0A41-BED4-94FC3E097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C735F-2B72-9748-B030-975ED4DE14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F0050-BE61-134A-8DC3-AEB68F22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8553C-EE30-8843-854A-E89839DF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7807D3-3014-0542-BDD4-8B68189C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6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E9B73-E925-864B-A767-56B6D478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42327-86B7-F947-ACC0-AF6D07A40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98B67-9603-7C4B-897C-6B50F2659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7854E-BF9A-0D41-8C01-37FA4A9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29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7D0634-50E1-0D4B-A247-87C6361F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2FDD2-E2B4-B248-A01C-A2CC5EC8C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34AE2-741F-474C-A481-A4BC94A6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05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3C0B-3A4D-8841-A481-8E09DCAB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3FF6F-0B97-5145-9FD6-17778614F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7BDCF-11EA-1744-A988-2FFC65FED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F3C8C-1BF9-934E-9E38-63D6FA02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D0E7B-A91D-8D4C-8AF0-09384921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21D5F-9A6E-3D4B-80E4-F708AC1D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4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B542-3A62-1F4F-9B57-AFADFCEAB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9B6A-2D68-4D4C-8643-B912D84CA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9C95A-1F75-9C44-BC3C-45D720571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DA4F5-275C-9341-9709-F967492F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6A71F-BC7B-5C47-A0F3-7E0B6372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F2C17-17F6-B340-9FF1-1D3C7700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9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7B0A-FF02-BC49-9AB9-F19C8CBA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F8DCD-5BD5-F84C-862A-386817621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0F827-E3CA-D343-B1D0-738811AC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DE24-D38B-074E-BEAC-57B2404C2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1F18-0E3E-C04B-9CE8-716C18C0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8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DB3E1-4407-3B4F-993C-EB4B71BEA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2D327-467C-7945-B8D2-65D6D96E2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7381A-476A-404B-9960-9D9AC1E7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B5DC8-1005-2A44-B623-A84CD699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97CCA-8817-6844-B247-48B2F7AA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6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205E5-28C3-1640-BD2B-26C2F794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1337C-D2F1-304A-8267-A7853A781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80126-3025-3C4F-A523-69664A928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00808-534E-DF4B-BFA1-314377E96F76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FE64D-CB79-6449-902C-CCD7EC31B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20F28-FBE9-5649-B339-32F60EEB8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276C1-4BCA-094B-B307-37BFEA0A7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9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EFC56B4-F99B-57AB-02CD-003FD1588361}"/>
              </a:ext>
            </a:extLst>
          </p:cNvPr>
          <p:cNvSpPr/>
          <p:nvPr/>
        </p:nvSpPr>
        <p:spPr>
          <a:xfrm>
            <a:off x="8025267" y="1871753"/>
            <a:ext cx="1227472" cy="8775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57F12E-9BF2-2D4D-A8E2-CE4FB016F25C}"/>
              </a:ext>
            </a:extLst>
          </p:cNvPr>
          <p:cNvSpPr/>
          <p:nvPr/>
        </p:nvSpPr>
        <p:spPr>
          <a:xfrm>
            <a:off x="2203978" y="1114504"/>
            <a:ext cx="7290954" cy="4074517"/>
          </a:xfrm>
          <a:prstGeom prst="rect">
            <a:avLst/>
          </a:prstGeom>
          <a:solidFill>
            <a:schemeClr val="bg1"/>
          </a:solidFill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9A2E62-88D8-8444-8A2A-7B0245B91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190" y="1148025"/>
            <a:ext cx="636789" cy="22606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CC5B81-788C-7A4A-8795-795FD1EFF9D7}"/>
              </a:ext>
            </a:extLst>
          </p:cNvPr>
          <p:cNvSpPr/>
          <p:nvPr/>
        </p:nvSpPr>
        <p:spPr>
          <a:xfrm>
            <a:off x="4391510" y="1159253"/>
            <a:ext cx="1582688" cy="3078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Endorser</a:t>
            </a:r>
          </a:p>
        </p:txBody>
      </p:sp>
      <p:sp>
        <p:nvSpPr>
          <p:cNvPr id="10" name="Multidocument 8">
            <a:extLst>
              <a:ext uri="{FF2B5EF4-FFF2-40B4-BE49-F238E27FC236}">
                <a16:creationId xmlns:a16="http://schemas.microsoft.com/office/drawing/2014/main" id="{F1A9925A-667B-8246-BC23-9203B908959A}"/>
              </a:ext>
            </a:extLst>
          </p:cNvPr>
          <p:cNvSpPr/>
          <p:nvPr/>
        </p:nvSpPr>
        <p:spPr>
          <a:xfrm>
            <a:off x="543699" y="1101381"/>
            <a:ext cx="1006353" cy="489858"/>
          </a:xfrm>
          <a:prstGeom prst="flowChartMulti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Clients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4B90F6C-F048-3F45-AFBE-05E24A671031}"/>
              </a:ext>
            </a:extLst>
          </p:cNvPr>
          <p:cNvSpPr/>
          <p:nvPr/>
        </p:nvSpPr>
        <p:spPr>
          <a:xfrm>
            <a:off x="2294840" y="2216682"/>
            <a:ext cx="1064194" cy="90211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Gossip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955869-2D18-7D49-A14C-D13B27D3D671}"/>
              </a:ext>
            </a:extLst>
          </p:cNvPr>
          <p:cNvSpPr/>
          <p:nvPr/>
        </p:nvSpPr>
        <p:spPr>
          <a:xfrm>
            <a:off x="114641" y="1951774"/>
            <a:ext cx="1518747" cy="522515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Ordering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Service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D82F2E-A05C-1342-9E7D-7C88E81DC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02" y="2129883"/>
            <a:ext cx="636789" cy="22606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537ADD2-34C5-6645-933D-C9B58719684E}"/>
              </a:ext>
            </a:extLst>
          </p:cNvPr>
          <p:cNvSpPr/>
          <p:nvPr/>
        </p:nvSpPr>
        <p:spPr>
          <a:xfrm>
            <a:off x="151237" y="2674593"/>
            <a:ext cx="1371600" cy="443213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entaur" panose="02030504050205020304" pitchFamily="18" charset="77"/>
              </a:rPr>
              <a:t>Other Peers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9E80AD-BB44-1A42-8B83-5A3AD5D72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144047"/>
              </p:ext>
            </p:extLst>
          </p:nvPr>
        </p:nvGraphicFramePr>
        <p:xfrm>
          <a:off x="3519609" y="2725196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97114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870908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0743484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00919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6459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98DB488-01EA-B641-87C8-4A6B129B43C1}"/>
              </a:ext>
            </a:extLst>
          </p:cNvPr>
          <p:cNvSpPr txBox="1"/>
          <p:nvPr/>
        </p:nvSpPr>
        <p:spPr>
          <a:xfrm>
            <a:off x="3319107" y="2354443"/>
            <a:ext cx="1376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entaur" panose="02030504050205020304" pitchFamily="18" charset="77"/>
              </a:rPr>
              <a:t>Block Queue</a:t>
            </a:r>
          </a:p>
        </p:txBody>
      </p:sp>
      <p:sp>
        <p:nvSpPr>
          <p:cNvPr id="19" name="Cube 18">
            <a:extLst>
              <a:ext uri="{FF2B5EF4-FFF2-40B4-BE49-F238E27FC236}">
                <a16:creationId xmlns:a16="http://schemas.microsoft.com/office/drawing/2014/main" id="{A2A8FBD1-6F62-C54C-BC53-E2D59EAADFF4}"/>
              </a:ext>
            </a:extLst>
          </p:cNvPr>
          <p:cNvSpPr/>
          <p:nvPr/>
        </p:nvSpPr>
        <p:spPr>
          <a:xfrm>
            <a:off x="2376182" y="3193689"/>
            <a:ext cx="2143380" cy="688856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  <a:latin typeface="Centaur" panose="02030504050205020304" pitchFamily="18" charset="77"/>
              </a:rPr>
              <a:t>Endorsement policy validator</a:t>
            </a:r>
          </a:p>
        </p:txBody>
      </p:sp>
      <p:sp>
        <p:nvSpPr>
          <p:cNvPr id="20" name="Cube 19">
            <a:extLst>
              <a:ext uri="{FF2B5EF4-FFF2-40B4-BE49-F238E27FC236}">
                <a16:creationId xmlns:a16="http://schemas.microsoft.com/office/drawing/2014/main" id="{42AAAE5A-BCCD-FA49-804A-6650D7D7BBB0}"/>
              </a:ext>
            </a:extLst>
          </p:cNvPr>
          <p:cNvSpPr/>
          <p:nvPr/>
        </p:nvSpPr>
        <p:spPr>
          <a:xfrm>
            <a:off x="2337103" y="3933448"/>
            <a:ext cx="2182459" cy="702077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  <a:latin typeface="Centaur" panose="02030504050205020304" pitchFamily="18" charset="77"/>
              </a:rPr>
              <a:t>Serializability validator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99B800B-1EDC-6D49-8F63-1EEF1E30D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052" y="2767274"/>
            <a:ext cx="636789" cy="2260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A1AD6FE-3FDD-CB48-9220-9872325C8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15" y="1650950"/>
            <a:ext cx="636789" cy="226060"/>
          </a:xfrm>
          <a:prstGeom prst="rect">
            <a:avLst/>
          </a:prstGeom>
        </p:spPr>
      </p:pic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6277FEF-0F6C-7749-AD34-B201F814D62D}"/>
              </a:ext>
            </a:extLst>
          </p:cNvPr>
          <p:cNvSpPr/>
          <p:nvPr/>
        </p:nvSpPr>
        <p:spPr>
          <a:xfrm>
            <a:off x="2383640" y="4854763"/>
            <a:ext cx="5985673" cy="2754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Committer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DCF44230-29D4-1F4A-8656-97425F490970}"/>
              </a:ext>
            </a:extLst>
          </p:cNvPr>
          <p:cNvSpPr/>
          <p:nvPr/>
        </p:nvSpPr>
        <p:spPr>
          <a:xfrm>
            <a:off x="2319798" y="1556185"/>
            <a:ext cx="2375688" cy="385654"/>
          </a:xfrm>
          <a:prstGeom prst="roundRect">
            <a:avLst/>
          </a:prstGeom>
          <a:solidFill>
            <a:srgbClr val="097C7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entaur" panose="02030504050205020304" pitchFamily="18" charset="77"/>
              </a:rPr>
              <a:t>Pvtdata Dissemination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FACF59-1ACC-14E1-07F3-F57182987DE2}"/>
              </a:ext>
            </a:extLst>
          </p:cNvPr>
          <p:cNvSpPr/>
          <p:nvPr/>
        </p:nvSpPr>
        <p:spPr>
          <a:xfrm>
            <a:off x="2305727" y="1986411"/>
            <a:ext cx="2843046" cy="385654"/>
          </a:xfrm>
          <a:prstGeom prst="roundRect">
            <a:avLst/>
          </a:prstGeom>
          <a:solidFill>
            <a:srgbClr val="097C7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entaur" panose="02030504050205020304" pitchFamily="18" charset="77"/>
              </a:rPr>
              <a:t>Missing Pvtdata Reconciler</a:t>
            </a:r>
          </a:p>
        </p:txBody>
      </p:sp>
      <p:pic>
        <p:nvPicPr>
          <p:cNvPr id="28" name="Picture 27" descr="A diagram of a block store&#10;&#10;AI-generated content may be incorrect.">
            <a:extLst>
              <a:ext uri="{FF2B5EF4-FFF2-40B4-BE49-F238E27FC236}">
                <a16:creationId xmlns:a16="http://schemas.microsoft.com/office/drawing/2014/main" id="{3BFAF686-3CFD-BDFB-09F1-88B837AA5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12" r="67536" b="53481"/>
          <a:stretch>
            <a:fillRect/>
          </a:stretch>
        </p:blipFill>
        <p:spPr>
          <a:xfrm>
            <a:off x="4652687" y="3398418"/>
            <a:ext cx="1420823" cy="81248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991880D-4505-A5BC-076F-24E350042803}"/>
              </a:ext>
            </a:extLst>
          </p:cNvPr>
          <p:cNvSpPr/>
          <p:nvPr/>
        </p:nvSpPr>
        <p:spPr>
          <a:xfrm>
            <a:off x="6032163" y="1151119"/>
            <a:ext cx="703124" cy="321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5A0707CD-5DD9-11D8-4183-99B4754FF949}"/>
              </a:ext>
            </a:extLst>
          </p:cNvPr>
          <p:cNvCxnSpPr>
            <a:cxnSpLocks/>
            <a:stCxn id="8" idx="3"/>
            <a:endCxn id="28" idx="0"/>
          </p:cNvCxnSpPr>
          <p:nvPr/>
        </p:nvCxnSpPr>
        <p:spPr>
          <a:xfrm flipH="1">
            <a:off x="5363099" y="1313175"/>
            <a:ext cx="611099" cy="2085243"/>
          </a:xfrm>
          <a:prstGeom prst="curvedConnector4">
            <a:avLst>
              <a:gd name="adj1" fmla="val -37408"/>
              <a:gd name="adj2" fmla="val 53691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6E0228AA-EB44-CA77-9C18-787854056642}"/>
              </a:ext>
            </a:extLst>
          </p:cNvPr>
          <p:cNvCxnSpPr>
            <a:cxnSpLocks/>
            <a:stCxn id="70" idx="3"/>
            <a:endCxn id="28" idx="0"/>
          </p:cNvCxnSpPr>
          <p:nvPr/>
        </p:nvCxnSpPr>
        <p:spPr>
          <a:xfrm>
            <a:off x="4695486" y="1749012"/>
            <a:ext cx="667613" cy="1649406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Vertical Scroll 38">
            <a:extLst>
              <a:ext uri="{FF2B5EF4-FFF2-40B4-BE49-F238E27FC236}">
                <a16:creationId xmlns:a16="http://schemas.microsoft.com/office/drawing/2014/main" id="{CF9EA220-8834-58F6-E2E8-3B1166E95483}"/>
              </a:ext>
            </a:extLst>
          </p:cNvPr>
          <p:cNvSpPr/>
          <p:nvPr/>
        </p:nvSpPr>
        <p:spPr>
          <a:xfrm>
            <a:off x="6455262" y="2069682"/>
            <a:ext cx="1089102" cy="604911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entaur" panose="02030504050205020304" pitchFamily="18" charset="77"/>
              </a:rPr>
              <a:t>Block</a:t>
            </a:r>
            <a:br>
              <a:rPr lang="en-US" sz="2000" dirty="0">
                <a:solidFill>
                  <a:schemeClr val="tx1"/>
                </a:solidFill>
                <a:latin typeface="Centaur" panose="02030504050205020304" pitchFamily="18" charset="77"/>
              </a:rPr>
            </a:br>
            <a:r>
              <a:rPr lang="en-US" sz="2000" dirty="0">
                <a:solidFill>
                  <a:schemeClr val="tx1"/>
                </a:solidFill>
                <a:latin typeface="Centaur" panose="02030504050205020304" pitchFamily="18" charset="77"/>
              </a:rPr>
              <a:t>Store</a:t>
            </a:r>
          </a:p>
        </p:txBody>
      </p: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7806DC78-7A2C-01EA-98E0-73E8841FB6B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148773" y="2179238"/>
            <a:ext cx="1234952" cy="939563"/>
          </a:xfrm>
          <a:prstGeom prst="curved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Can 62">
            <a:extLst>
              <a:ext uri="{FF2B5EF4-FFF2-40B4-BE49-F238E27FC236}">
                <a16:creationId xmlns:a16="http://schemas.microsoft.com/office/drawing/2014/main" id="{8E6DDCE6-4B5B-7D71-C2AB-B7B17FACA40B}"/>
              </a:ext>
            </a:extLst>
          </p:cNvPr>
          <p:cNvSpPr/>
          <p:nvPr/>
        </p:nvSpPr>
        <p:spPr>
          <a:xfrm>
            <a:off x="7938005" y="3175346"/>
            <a:ext cx="1427018" cy="540327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History DB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55D549B-7B43-96BD-7F8E-DC798F92D723}"/>
              </a:ext>
            </a:extLst>
          </p:cNvPr>
          <p:cNvGrpSpPr/>
          <p:nvPr/>
        </p:nvGrpSpPr>
        <p:grpSpPr>
          <a:xfrm>
            <a:off x="6379114" y="2854826"/>
            <a:ext cx="1249999" cy="1873868"/>
            <a:chOff x="9773521" y="3301452"/>
            <a:chExt cx="1249999" cy="1828800"/>
          </a:xfrm>
        </p:grpSpPr>
        <p:sp>
          <p:nvSpPr>
            <p:cNvPr id="2" name="Can 1">
              <a:extLst>
                <a:ext uri="{FF2B5EF4-FFF2-40B4-BE49-F238E27FC236}">
                  <a16:creationId xmlns:a16="http://schemas.microsoft.com/office/drawing/2014/main" id="{C74FF398-C669-17C7-3039-55CFBD4A5869}"/>
                </a:ext>
              </a:extLst>
            </p:cNvPr>
            <p:cNvSpPr/>
            <p:nvPr/>
          </p:nvSpPr>
          <p:spPr>
            <a:xfrm>
              <a:off x="9773521" y="3301452"/>
              <a:ext cx="1249999" cy="1828800"/>
            </a:xfrm>
            <a:prstGeom prst="can">
              <a:avLst/>
            </a:prstGeom>
            <a:solidFill>
              <a:srgbClr val="097C7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Centaur" panose="02030504050205020304" pitchFamily="18" charset="77"/>
                </a:rPr>
                <a:t>Private</a:t>
              </a:r>
              <a:br>
                <a:rPr lang="en-US" dirty="0">
                  <a:solidFill>
                    <a:schemeClr val="bg1"/>
                  </a:solidFill>
                  <a:latin typeface="Centaur" panose="02030504050205020304" pitchFamily="18" charset="77"/>
                </a:rPr>
              </a:br>
              <a:r>
                <a:rPr lang="en-US" dirty="0">
                  <a:solidFill>
                    <a:schemeClr val="bg1"/>
                  </a:solidFill>
                  <a:latin typeface="Centaur" panose="02030504050205020304" pitchFamily="18" charset="77"/>
                </a:rPr>
                <a:t>Data Store</a:t>
              </a:r>
            </a:p>
            <a:p>
              <a:pPr algn="ctr"/>
              <a:endParaRPr lang="en-US" dirty="0">
                <a:latin typeface="Centaur" panose="02030504050205020304" pitchFamily="18" charset="77"/>
              </a:endParaRPr>
            </a:p>
            <a:p>
              <a:pPr algn="ctr"/>
              <a:endParaRPr lang="en-US" dirty="0">
                <a:latin typeface="Centaur" panose="02030504050205020304" pitchFamily="18" charset="77"/>
              </a:endParaRPr>
            </a:p>
            <a:p>
              <a:pPr algn="ctr"/>
              <a:endParaRPr lang="en-US" dirty="0">
                <a:latin typeface="Centaur" panose="02030504050205020304" pitchFamily="18" charset="77"/>
              </a:endParaRPr>
            </a:p>
            <a:p>
              <a:pPr algn="ctr"/>
              <a:endParaRPr lang="en-US" dirty="0">
                <a:latin typeface="Centaur" panose="02030504050205020304" pitchFamily="18" charset="77"/>
              </a:endParaRPr>
            </a:p>
            <a:p>
              <a:pPr algn="ctr"/>
              <a:endParaRPr lang="en-US" dirty="0">
                <a:latin typeface="Centaur" panose="02030504050205020304" pitchFamily="18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CC55B9-DDB4-B7C3-6C42-B5F46E485830}"/>
                </a:ext>
              </a:extLst>
            </p:cNvPr>
            <p:cNvSpPr/>
            <p:nvPr/>
          </p:nvSpPr>
          <p:spPr>
            <a:xfrm>
              <a:off x="9854897" y="4385953"/>
              <a:ext cx="1090352" cy="626713"/>
            </a:xfrm>
            <a:prstGeom prst="rect">
              <a:avLst/>
            </a:prstGeom>
            <a:solidFill>
              <a:srgbClr val="097C7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entaur" panose="02030504050205020304" pitchFamily="18" charset="77"/>
                </a:rPr>
                <a:t>Missing</a:t>
              </a:r>
              <a:br>
                <a:rPr lang="en-US" sz="1400" dirty="0">
                  <a:latin typeface="Centaur" panose="02030504050205020304" pitchFamily="18" charset="77"/>
                </a:rPr>
              </a:br>
              <a:r>
                <a:rPr lang="en-US" sz="1400" dirty="0">
                  <a:latin typeface="Centaur" panose="02030504050205020304" pitchFamily="18" charset="77"/>
                </a:rPr>
                <a:t>eligible &amp; ineligible data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32E57D-B806-D641-4E00-D831CFE463AF}"/>
                </a:ext>
              </a:extLst>
            </p:cNvPr>
            <p:cNvSpPr/>
            <p:nvPr/>
          </p:nvSpPr>
          <p:spPr>
            <a:xfrm>
              <a:off x="9854897" y="3884702"/>
              <a:ext cx="1090352" cy="437018"/>
            </a:xfrm>
            <a:prstGeom prst="rect">
              <a:avLst/>
            </a:prstGeom>
            <a:solidFill>
              <a:srgbClr val="097C7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Centaur" panose="02030504050205020304" pitchFamily="18" charset="77"/>
                </a:rPr>
                <a:t>Private data history</a:t>
              </a:r>
            </a:p>
          </p:txBody>
        </p:sp>
      </p:grpSp>
      <p:sp>
        <p:nvSpPr>
          <p:cNvPr id="33" name="Can 32">
            <a:extLst>
              <a:ext uri="{FF2B5EF4-FFF2-40B4-BE49-F238E27FC236}">
                <a16:creationId xmlns:a16="http://schemas.microsoft.com/office/drawing/2014/main" id="{E4417A37-E2C3-24F3-00D3-D3F8EF3F3E7E}"/>
              </a:ext>
            </a:extLst>
          </p:cNvPr>
          <p:cNvSpPr/>
          <p:nvPr/>
        </p:nvSpPr>
        <p:spPr>
          <a:xfrm>
            <a:off x="7974884" y="1313175"/>
            <a:ext cx="1353574" cy="1680159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Centaur" panose="02030504050205020304" pitchFamily="18" charset="77"/>
            </a:endParaRPr>
          </a:p>
          <a:p>
            <a:pPr algn="ctr"/>
            <a:endParaRPr lang="en-US" dirty="0">
              <a:solidFill>
                <a:schemeClr val="tx1"/>
              </a:solidFill>
              <a:latin typeface="Centaur" panose="02030504050205020304" pitchFamily="18" charset="77"/>
            </a:endParaRPr>
          </a:p>
          <a:p>
            <a:pPr algn="ctr"/>
            <a:endParaRPr lang="en-US" dirty="0">
              <a:solidFill>
                <a:schemeClr val="tx1"/>
              </a:solidFill>
              <a:latin typeface="Centaur" panose="02030504050205020304" pitchFamily="18" charset="77"/>
            </a:endParaRPr>
          </a:p>
          <a:p>
            <a:pPr algn="ctr"/>
            <a:endParaRPr lang="en-US" dirty="0">
              <a:latin typeface="Centaur" panose="02030504050205020304" pitchFamily="18" charset="77"/>
            </a:endParaRPr>
          </a:p>
          <a:p>
            <a:pPr algn="ctr"/>
            <a:endParaRPr lang="en-US" dirty="0">
              <a:latin typeface="Centaur" panose="02030504050205020304" pitchFamily="18" charset="77"/>
            </a:endParaRPr>
          </a:p>
          <a:p>
            <a:pPr algn="ctr"/>
            <a:endParaRPr lang="en-US" dirty="0">
              <a:latin typeface="Centaur" panose="02030504050205020304" pitchFamily="18" charset="77"/>
            </a:endParaRPr>
          </a:p>
          <a:p>
            <a:pPr algn="ctr"/>
            <a:endParaRPr lang="en-US" dirty="0">
              <a:latin typeface="Centaur" panose="02030504050205020304" pitchFamily="18" charset="77"/>
            </a:endParaRPr>
          </a:p>
          <a:p>
            <a:pPr algn="ctr"/>
            <a:endParaRPr lang="en-US" dirty="0">
              <a:latin typeface="Centaur" panose="02030504050205020304" pitchFamily="18" charset="77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5AAE8B2-47E8-9637-0222-064B06561DB4}"/>
              </a:ext>
            </a:extLst>
          </p:cNvPr>
          <p:cNvGrpSpPr/>
          <p:nvPr/>
        </p:nvGrpSpPr>
        <p:grpSpPr>
          <a:xfrm>
            <a:off x="8028627" y="2017205"/>
            <a:ext cx="1250504" cy="885387"/>
            <a:chOff x="10206681" y="1941839"/>
            <a:chExt cx="1250504" cy="885387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F2F93884-B990-C568-5452-0135EF3EBDF0}"/>
                </a:ext>
              </a:extLst>
            </p:cNvPr>
            <p:cNvSpPr/>
            <p:nvPr/>
          </p:nvSpPr>
          <p:spPr>
            <a:xfrm>
              <a:off x="10206681" y="1941839"/>
              <a:ext cx="1250504" cy="88538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652C365-D302-5326-7239-3D3AAFB0D2E3}"/>
                </a:ext>
              </a:extLst>
            </p:cNvPr>
            <p:cNvSpPr/>
            <p:nvPr/>
          </p:nvSpPr>
          <p:spPr>
            <a:xfrm>
              <a:off x="10278218" y="2027202"/>
              <a:ext cx="1090352" cy="2021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Centaur" panose="02030504050205020304" pitchFamily="18" charset="77"/>
                </a:rPr>
                <a:t>Public States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FC54E80-E70D-1409-2F0C-2FED60372ECD}"/>
                </a:ext>
              </a:extLst>
            </p:cNvPr>
            <p:cNvSpPr/>
            <p:nvPr/>
          </p:nvSpPr>
          <p:spPr>
            <a:xfrm>
              <a:off x="10253417" y="2287167"/>
              <a:ext cx="1144242" cy="202164"/>
            </a:xfrm>
            <a:prstGeom prst="rect">
              <a:avLst/>
            </a:prstGeom>
            <a:solidFill>
              <a:srgbClr val="097C7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entaur" panose="02030504050205020304" pitchFamily="18" charset="77"/>
                </a:rPr>
                <a:t>Hashed States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0FD0534-8292-200C-018D-80C6C3F71B2E}"/>
                </a:ext>
              </a:extLst>
            </p:cNvPr>
            <p:cNvSpPr/>
            <p:nvPr/>
          </p:nvSpPr>
          <p:spPr>
            <a:xfrm>
              <a:off x="10278218" y="2547132"/>
              <a:ext cx="1090352" cy="202164"/>
            </a:xfrm>
            <a:prstGeom prst="rect">
              <a:avLst/>
            </a:prstGeom>
            <a:solidFill>
              <a:srgbClr val="097C7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entaur" panose="02030504050205020304" pitchFamily="18" charset="77"/>
                </a:rPr>
                <a:t>Private States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68A9C9D-E599-D72D-CE3E-5C9BF647BB54}"/>
              </a:ext>
            </a:extLst>
          </p:cNvPr>
          <p:cNvSpPr txBox="1"/>
          <p:nvPr/>
        </p:nvSpPr>
        <p:spPr>
          <a:xfrm>
            <a:off x="8047723" y="1558225"/>
            <a:ext cx="1178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Centaur" panose="02030504050205020304" pitchFamily="18" charset="77"/>
              </a:rPr>
              <a:t>Namespace per</a:t>
            </a:r>
            <a:br>
              <a:rPr lang="en-US" sz="1400" dirty="0">
                <a:latin typeface="Centaur" panose="02030504050205020304" pitchFamily="18" charset="77"/>
              </a:rPr>
            </a:br>
            <a:r>
              <a:rPr lang="en-US" sz="1400" dirty="0">
                <a:latin typeface="Centaur" panose="02030504050205020304" pitchFamily="18" charset="77"/>
              </a:rPr>
              <a:t>chaincode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899E352-8C84-BFD1-13B8-ADDAC4B219B8}"/>
              </a:ext>
            </a:extLst>
          </p:cNvPr>
          <p:cNvSpPr/>
          <p:nvPr/>
        </p:nvSpPr>
        <p:spPr>
          <a:xfrm>
            <a:off x="4007469" y="4366657"/>
            <a:ext cx="345260" cy="268868"/>
          </a:xfrm>
          <a:prstGeom prst="rect">
            <a:avLst/>
          </a:prstGeom>
          <a:solidFill>
            <a:srgbClr val="0D7D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8B474B9-634E-07A8-92F8-5336040789BB}"/>
              </a:ext>
            </a:extLst>
          </p:cNvPr>
          <p:cNvSpPr/>
          <p:nvPr/>
        </p:nvSpPr>
        <p:spPr>
          <a:xfrm>
            <a:off x="3980464" y="3677801"/>
            <a:ext cx="345260" cy="196878"/>
          </a:xfrm>
          <a:prstGeom prst="rect">
            <a:avLst/>
          </a:prstGeom>
          <a:solidFill>
            <a:srgbClr val="0D7D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61D292-D682-3CD6-ABFC-29509C05FA13}"/>
              </a:ext>
            </a:extLst>
          </p:cNvPr>
          <p:cNvSpPr/>
          <p:nvPr/>
        </p:nvSpPr>
        <p:spPr>
          <a:xfrm>
            <a:off x="268283" y="3798252"/>
            <a:ext cx="1723720" cy="781978"/>
          </a:xfrm>
          <a:prstGeom prst="rect">
            <a:avLst/>
          </a:prstGeom>
          <a:solidFill>
            <a:schemeClr val="bg1"/>
          </a:solidFill>
          <a:ln w="539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BEA602-6085-8AAD-E9E1-587784C04B53}"/>
              </a:ext>
            </a:extLst>
          </p:cNvPr>
          <p:cNvSpPr/>
          <p:nvPr/>
        </p:nvSpPr>
        <p:spPr>
          <a:xfrm>
            <a:off x="322174" y="3874880"/>
            <a:ext cx="345260" cy="2688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6A43F1-86EF-3689-1BB1-E3DFA06FEE41}"/>
              </a:ext>
            </a:extLst>
          </p:cNvPr>
          <p:cNvSpPr/>
          <p:nvPr/>
        </p:nvSpPr>
        <p:spPr>
          <a:xfrm>
            <a:off x="322174" y="4255470"/>
            <a:ext cx="345260" cy="268868"/>
          </a:xfrm>
          <a:prstGeom prst="rect">
            <a:avLst/>
          </a:prstGeom>
          <a:solidFill>
            <a:srgbClr val="0D7D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D65954-AE4B-BCF7-8CA6-A3CCE865974B}"/>
              </a:ext>
            </a:extLst>
          </p:cNvPr>
          <p:cNvSpPr txBox="1"/>
          <p:nvPr/>
        </p:nvSpPr>
        <p:spPr>
          <a:xfrm>
            <a:off x="645325" y="3824648"/>
            <a:ext cx="1165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aur" panose="02030504050205020304" pitchFamily="18" charset="77"/>
              </a:rPr>
              <a:t>Pre-existing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26E03F-CFB8-99C1-C30D-3050ED9F6152}"/>
              </a:ext>
            </a:extLst>
          </p:cNvPr>
          <p:cNvSpPr txBox="1"/>
          <p:nvPr/>
        </p:nvSpPr>
        <p:spPr>
          <a:xfrm>
            <a:off x="656702" y="4210898"/>
            <a:ext cx="138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aur" panose="02030504050205020304" pitchFamily="18" charset="77"/>
              </a:rPr>
              <a:t>New for PDC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FD57C6-2BA0-362B-AB17-63447F72ACD9}"/>
              </a:ext>
            </a:extLst>
          </p:cNvPr>
          <p:cNvSpPr/>
          <p:nvPr/>
        </p:nvSpPr>
        <p:spPr>
          <a:xfrm>
            <a:off x="4562361" y="3268016"/>
            <a:ext cx="189248" cy="1845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14F8B2-BDD9-0449-E8F7-7874AB8EECF6}"/>
              </a:ext>
            </a:extLst>
          </p:cNvPr>
          <p:cNvSpPr/>
          <p:nvPr/>
        </p:nvSpPr>
        <p:spPr>
          <a:xfrm>
            <a:off x="4597187" y="3748448"/>
            <a:ext cx="102157" cy="86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1155F6-AB0B-8004-898C-EAA2B7AF40BA}"/>
              </a:ext>
            </a:extLst>
          </p:cNvPr>
          <p:cNvCxnSpPr>
            <a:cxnSpLocks/>
          </p:cNvCxnSpPr>
          <p:nvPr/>
        </p:nvCxnSpPr>
        <p:spPr>
          <a:xfrm>
            <a:off x="3937000" y="3068238"/>
            <a:ext cx="0" cy="17520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7CC911-16C7-E073-A8F1-C1B565C75843}"/>
              </a:ext>
            </a:extLst>
          </p:cNvPr>
          <p:cNvCxnSpPr>
            <a:cxnSpLocks/>
          </p:cNvCxnSpPr>
          <p:nvPr/>
        </p:nvCxnSpPr>
        <p:spPr>
          <a:xfrm>
            <a:off x="3924300" y="3874679"/>
            <a:ext cx="0" cy="1942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871FA6-2C90-D9D1-9C46-B0452BABC067}"/>
              </a:ext>
            </a:extLst>
          </p:cNvPr>
          <p:cNvCxnSpPr>
            <a:cxnSpLocks/>
          </p:cNvCxnSpPr>
          <p:nvPr/>
        </p:nvCxnSpPr>
        <p:spPr>
          <a:xfrm>
            <a:off x="3924300" y="4655738"/>
            <a:ext cx="0" cy="1990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2D4B29C-C3EF-7197-5D10-D46F85B531BF}"/>
              </a:ext>
            </a:extLst>
          </p:cNvPr>
          <p:cNvCxnSpPr>
            <a:cxnSpLocks/>
          </p:cNvCxnSpPr>
          <p:nvPr/>
        </p:nvCxnSpPr>
        <p:spPr>
          <a:xfrm flipV="1">
            <a:off x="5974198" y="3791760"/>
            <a:ext cx="381624" cy="649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Can 4">
            <a:extLst>
              <a:ext uri="{FF2B5EF4-FFF2-40B4-BE49-F238E27FC236}">
                <a16:creationId xmlns:a16="http://schemas.microsoft.com/office/drawing/2014/main" id="{B79DB960-209C-1661-1C7C-896B98D54AC1}"/>
              </a:ext>
            </a:extLst>
          </p:cNvPr>
          <p:cNvSpPr/>
          <p:nvPr/>
        </p:nvSpPr>
        <p:spPr>
          <a:xfrm>
            <a:off x="6388258" y="1340626"/>
            <a:ext cx="1210968" cy="501226"/>
          </a:xfrm>
          <a:prstGeom prst="can">
            <a:avLst/>
          </a:prstGeom>
          <a:solidFill>
            <a:srgbClr val="0D7D7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30504050205020304" pitchFamily="18" charset="77"/>
              </a:rPr>
              <a:t>Purge DB</a:t>
            </a:r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5AA2E241-61B2-9ACF-E522-B167001E870A}"/>
              </a:ext>
            </a:extLst>
          </p:cNvPr>
          <p:cNvSpPr/>
          <p:nvPr/>
        </p:nvSpPr>
        <p:spPr>
          <a:xfrm>
            <a:off x="4699344" y="3404914"/>
            <a:ext cx="1306862" cy="740240"/>
          </a:xfrm>
          <a:prstGeom prst="can">
            <a:avLst/>
          </a:prstGeom>
          <a:solidFill>
            <a:srgbClr val="0D7D7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30504050205020304" pitchFamily="18" charset="77"/>
              </a:rPr>
              <a:t>Transient</a:t>
            </a:r>
            <a:br>
              <a:rPr lang="en-US" dirty="0">
                <a:latin typeface="Centaur" panose="02030504050205020304" pitchFamily="18" charset="77"/>
              </a:rPr>
            </a:br>
            <a:r>
              <a:rPr lang="en-US" dirty="0">
                <a:latin typeface="Centaur" panose="02030504050205020304" pitchFamily="18" charset="77"/>
              </a:rPr>
              <a:t>Store</a:t>
            </a:r>
          </a:p>
        </p:txBody>
      </p:sp>
      <p:sp>
        <p:nvSpPr>
          <p:cNvPr id="26" name="Can 25">
            <a:extLst>
              <a:ext uri="{FF2B5EF4-FFF2-40B4-BE49-F238E27FC236}">
                <a16:creationId xmlns:a16="http://schemas.microsoft.com/office/drawing/2014/main" id="{FBB32E3A-E1D8-C238-EAB8-23490A9620CC}"/>
              </a:ext>
            </a:extLst>
          </p:cNvPr>
          <p:cNvSpPr/>
          <p:nvPr/>
        </p:nvSpPr>
        <p:spPr>
          <a:xfrm>
            <a:off x="8000552" y="3958520"/>
            <a:ext cx="1303191" cy="802342"/>
          </a:xfrm>
          <a:prstGeom prst="can">
            <a:avLst/>
          </a:prstGeom>
          <a:solidFill>
            <a:srgbClr val="0D7D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entaur" panose="02030504050205020304" pitchFamily="18" charset="77"/>
              </a:rPr>
              <a:t>Private Data</a:t>
            </a:r>
            <a:br>
              <a:rPr lang="en-US" sz="1600" dirty="0">
                <a:solidFill>
                  <a:schemeClr val="bg1"/>
                </a:solidFill>
                <a:latin typeface="Centaur" panose="02030504050205020304" pitchFamily="18" charset="77"/>
              </a:rPr>
            </a:br>
            <a:r>
              <a:rPr lang="en-US" sz="1600" dirty="0">
                <a:solidFill>
                  <a:schemeClr val="bg1"/>
                </a:solidFill>
                <a:latin typeface="Centaur" panose="02030504050205020304" pitchFamily="18" charset="77"/>
              </a:rPr>
              <a:t>Collection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entaur" panose="02030504050205020304" pitchFamily="18" charset="77"/>
              </a:rPr>
              <a:t>Config DB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Centaur" panose="02030504050205020304" pitchFamily="18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BD09B7-404A-7D19-ACC2-7F0026713516}"/>
              </a:ext>
            </a:extLst>
          </p:cNvPr>
          <p:cNvSpPr txBox="1"/>
          <p:nvPr/>
        </p:nvSpPr>
        <p:spPr>
          <a:xfrm>
            <a:off x="8168648" y="1295629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aur" panose="02030504050205020304" pitchFamily="18" charset="77"/>
              </a:rPr>
              <a:t>State DB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4E7875F-6006-1E41-1EE8-E458CED1C809}"/>
              </a:ext>
            </a:extLst>
          </p:cNvPr>
          <p:cNvCxnSpPr>
            <a:cxnSpLocks/>
            <a:endCxn id="2" idx="3"/>
          </p:cNvCxnSpPr>
          <p:nvPr/>
        </p:nvCxnSpPr>
        <p:spPr>
          <a:xfrm flipV="1">
            <a:off x="7004114" y="4728694"/>
            <a:ext cx="0" cy="12606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FFB7350-A293-772D-8343-BE0EA6925048}"/>
              </a:ext>
            </a:extLst>
          </p:cNvPr>
          <p:cNvCxnSpPr>
            <a:cxnSpLocks/>
          </p:cNvCxnSpPr>
          <p:nvPr/>
        </p:nvCxnSpPr>
        <p:spPr>
          <a:xfrm flipV="1">
            <a:off x="6993742" y="2674593"/>
            <a:ext cx="0" cy="17505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C5161DC-60D0-2D3A-18B4-D94D2054BEE4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6992736" y="1841852"/>
            <a:ext cx="1006" cy="22783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386F515B-033C-2D9A-70BC-6F54A389709E}"/>
              </a:ext>
            </a:extLst>
          </p:cNvPr>
          <p:cNvCxnSpPr>
            <a:cxnSpLocks/>
            <a:stCxn id="5" idx="1"/>
          </p:cNvCxnSpPr>
          <p:nvPr/>
        </p:nvCxnSpPr>
        <p:spPr>
          <a:xfrm rot="16200000" flipH="1">
            <a:off x="7415711" y="918656"/>
            <a:ext cx="137203" cy="981143"/>
          </a:xfrm>
          <a:prstGeom prst="curvedConnector4">
            <a:avLst>
              <a:gd name="adj1" fmla="val -47732"/>
              <a:gd name="adj2" fmla="val 80856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EC83A1-E995-8348-B36A-6D214ECD7291}"/>
              </a:ext>
            </a:extLst>
          </p:cNvPr>
          <p:cNvCxnSpPr>
            <a:cxnSpLocks/>
            <a:stCxn id="33" idx="3"/>
            <a:endCxn id="63" idx="1"/>
          </p:cNvCxnSpPr>
          <p:nvPr/>
        </p:nvCxnSpPr>
        <p:spPr>
          <a:xfrm flipH="1">
            <a:off x="8651514" y="2993334"/>
            <a:ext cx="157" cy="18201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E723C18-41DA-7359-B29C-BE6342059DC6}"/>
              </a:ext>
            </a:extLst>
          </p:cNvPr>
          <p:cNvCxnSpPr>
            <a:cxnSpLocks/>
            <a:stCxn id="63" idx="3"/>
            <a:endCxn id="26" idx="1"/>
          </p:cNvCxnSpPr>
          <p:nvPr/>
        </p:nvCxnSpPr>
        <p:spPr>
          <a:xfrm>
            <a:off x="8651514" y="3715673"/>
            <a:ext cx="634" cy="24284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3F1ACD5-E9DF-B7BB-C1C4-8D07CC47DA5B}"/>
              </a:ext>
            </a:extLst>
          </p:cNvPr>
          <p:cNvSpPr txBox="1"/>
          <p:nvPr/>
        </p:nvSpPr>
        <p:spPr>
          <a:xfrm>
            <a:off x="230686" y="4606626"/>
            <a:ext cx="1868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All stores &amp; DB uses</a:t>
            </a:r>
            <a:br>
              <a:rPr lang="en-US" sz="1600" dirty="0">
                <a:latin typeface="Centaur" panose="02030504050205020304" pitchFamily="18" charset="77"/>
              </a:rPr>
            </a:br>
            <a:r>
              <a:rPr lang="en-US" sz="1600" dirty="0">
                <a:latin typeface="Centaur" panose="02030504050205020304" pitchFamily="18" charset="77"/>
              </a:rPr>
              <a:t>levelDB storage library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79D2ED4-2B32-EB41-6D99-A08FFEFDCDBF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369445" y="2910616"/>
            <a:ext cx="15016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71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74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Centaur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9</cp:revision>
  <dcterms:created xsi:type="dcterms:W3CDTF">2020-03-31T14:23:47Z</dcterms:created>
  <dcterms:modified xsi:type="dcterms:W3CDTF">2026-02-18T05:40:23Z</dcterms:modified>
</cp:coreProperties>
</file>