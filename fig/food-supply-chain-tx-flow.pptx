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94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C356A-5D24-C14A-8468-D170B496CB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9FADD9-2023-014B-8C17-D0DBA5FA7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9E56F-E5C4-9A46-A590-9C78F4A27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4D935-525D-F244-B979-9EF8207529CF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E9B19-1729-6F4C-8AED-FE8A7AC9F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C7093-53A5-CB46-9EAE-16D2F9694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51D3-8212-1948-80CF-7FD8DEC40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335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5D8A1-10E0-AB41-81A5-EFC256F46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6489F-0396-F747-92F0-60D0F683D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8BF6D-0A91-2A42-AA66-847167532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4D935-525D-F244-B979-9EF8207529CF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9910B-917A-344F-8FEA-09D2E3A77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BA75A-30DC-954B-A9E8-C279B04F7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51D3-8212-1948-80CF-7FD8DEC40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175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753C7-B49A-5E48-8B11-982D5EF76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F436F-ED21-034A-B0E8-D7F65A689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F7391-B73E-CB4E-9840-B0B149F7D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4D935-525D-F244-B979-9EF8207529CF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7DA1D-0477-5645-8026-B08AC59ED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4D9E1-37F5-A741-B10B-E57F3633E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51D3-8212-1948-80CF-7FD8DEC40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993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E6A2B-E06C-A742-AADE-87EEBFE02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8492C-2DB8-0B49-BCE9-846FBF546B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E623ED-427D-6042-9CE7-601FBAFF8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57FD7-C87D-1741-A528-99E058E8C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4D935-525D-F244-B979-9EF8207529CF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D1F09-103E-9042-9629-C7FF4ADEE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A2B0B7-3DAB-9347-895F-2F0DFB4A0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51D3-8212-1948-80CF-7FD8DEC40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5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88D8F-CCF7-8D42-B0B1-EE5B4D56E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EE461-1774-124A-AC79-59096C34F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CDA202-A99F-7649-9142-34B954018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53E8B5-C256-E04A-871E-A1AB23977F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FE4B20-4263-5844-A98D-59C2E25865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ADDF9E-9B09-884A-991B-99A4E4B46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4D935-525D-F244-B979-9EF8207529CF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F30F42-E30A-5F4F-9622-EDC2AD053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1BBBD9-5EE7-7340-840A-041681762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51D3-8212-1948-80CF-7FD8DEC40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230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5702A-3849-CF4C-9921-E99571844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8A3704-FC3A-B548-AEBA-9A1CC0C94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4D935-525D-F244-B979-9EF8207529CF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1FBEB2-1999-FA42-B166-B08E6101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2C1DD3-5C56-BF4E-B559-15DA66664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51D3-8212-1948-80CF-7FD8DEC40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212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9B2B8-3E36-4E44-ACC3-C20257F27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4D935-525D-F244-B979-9EF8207529CF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9F9150-705A-3648-98FF-CE3757A25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01E3F-EBEE-A040-95A6-034396F42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51D3-8212-1948-80CF-7FD8DEC40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10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8D702-0A0E-7849-A97F-E0825485A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6740C-AF02-0649-8B73-D97725460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C7A0E-FBF7-F94A-B72D-F569F7EA0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7D1D49-2B0B-8043-AE8E-55059A3A4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4D935-525D-F244-B979-9EF8207529CF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D7B59E-7A1E-EC4F-BE24-7596670E4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D3ED1-7CAA-A24C-8DC1-486B075B3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51D3-8212-1948-80CF-7FD8DEC40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01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08875-FCAF-1045-9663-ACC52460F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41BF59-80ED-1542-BB86-E4ABF13C77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69FA16-18AC-C84A-BD0E-20C072193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1E2F7-E3CC-D546-8E48-12733CF89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4D935-525D-F244-B979-9EF8207529CF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411A7-2204-EA4D-9FE0-07139FBD1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8D269-955A-3D48-860F-F28F58A36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51D3-8212-1948-80CF-7FD8DEC40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607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605FA-FB83-7B43-AC8C-18D72FE3F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5A27B-235C-C248-8EC3-0D7845E19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D554-D694-344D-BDE6-324052988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4D935-525D-F244-B979-9EF8207529CF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FCB63-B40C-FB41-BB77-A16311639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85729-D660-5549-8D12-AABD61CF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51D3-8212-1948-80CF-7FD8DEC40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3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FACA41-BBDC-9141-9983-F85804CD1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BDF602-60D1-524D-AC3F-7E5A0FBD19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89D6A-F178-B148-81EB-FB29DC448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4D935-525D-F244-B979-9EF8207529CF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77D43-A81F-EE4C-A4EC-1E1A5691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28ED7-3DEE-4746-818D-9602C14DE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F51D3-8212-1948-80CF-7FD8DEC40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643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1ECB7A-FE48-BE41-83D0-12EC964EF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1483A-824F-C849-9217-02A5558DC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6CAD8-FA52-174E-923E-2D1A13DF96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74D935-525D-F244-B979-9EF8207529CF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96819-5656-D64D-B099-EE31E33C47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B6F59-7412-6442-8BDD-0CC4248AAE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F51D3-8212-1948-80CF-7FD8DEC40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122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C6CC91-5868-B142-9F06-E3E29264F586}"/>
              </a:ext>
            </a:extLst>
          </p:cNvPr>
          <p:cNvSpPr/>
          <p:nvPr/>
        </p:nvSpPr>
        <p:spPr>
          <a:xfrm>
            <a:off x="6873765" y="993230"/>
            <a:ext cx="1140379" cy="2942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aur" panose="02030504050205020304" pitchFamily="18" charset="77"/>
              </a:rPr>
              <a:t>Distributor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FF4BEB-3E90-944E-B715-89FF3C3D5F6E}"/>
              </a:ext>
            </a:extLst>
          </p:cNvPr>
          <p:cNvSpPr/>
          <p:nvPr/>
        </p:nvSpPr>
        <p:spPr>
          <a:xfrm>
            <a:off x="8429293" y="995856"/>
            <a:ext cx="1313802" cy="2942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aur" panose="02030504050205020304" pitchFamily="18" charset="77"/>
              </a:rPr>
              <a:t>Retailer (R</a:t>
            </a:r>
            <a:r>
              <a:rPr lang="en-US" b="1" baseline="-25000" dirty="0">
                <a:latin typeface="Centaur" panose="02030504050205020304" pitchFamily="18" charset="77"/>
                <a:cs typeface="Georgia Pro Semibold" panose="020F0502020204030204" pitchFamily="34" charset="0"/>
              </a:rPr>
              <a:t>4</a:t>
            </a:r>
            <a:r>
              <a:rPr lang="en-US" dirty="0">
                <a:latin typeface="Centaur" panose="02030504050205020304" pitchFamily="18" charset="77"/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160FAF-5E34-624C-BB9A-7A7280F8777E}"/>
              </a:ext>
            </a:extLst>
          </p:cNvPr>
          <p:cNvSpPr/>
          <p:nvPr/>
        </p:nvSpPr>
        <p:spPr>
          <a:xfrm>
            <a:off x="5047589" y="993229"/>
            <a:ext cx="1313802" cy="29429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aur" panose="02030504050205020304" pitchFamily="18" charset="77"/>
              </a:rPr>
              <a:t>Manufacturer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84EDBD-7097-F44F-9D0E-B700DB923EC1}"/>
              </a:ext>
            </a:extLst>
          </p:cNvPr>
          <p:cNvSpPr/>
          <p:nvPr/>
        </p:nvSpPr>
        <p:spPr>
          <a:xfrm>
            <a:off x="3683869" y="993228"/>
            <a:ext cx="893397" cy="296917"/>
          </a:xfrm>
          <a:prstGeom prst="rect">
            <a:avLst/>
          </a:prstGeom>
          <a:solidFill>
            <a:srgbClr val="FF9300"/>
          </a:solidFill>
          <a:ln>
            <a:solidFill>
              <a:srgbClr val="FF9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aur" panose="02030504050205020304" pitchFamily="18" charset="77"/>
              </a:rPr>
              <a:t>Supplier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1E54F1-5082-2743-B7D7-9258D8AD1E02}"/>
              </a:ext>
            </a:extLst>
          </p:cNvPr>
          <p:cNvSpPr/>
          <p:nvPr/>
        </p:nvSpPr>
        <p:spPr>
          <a:xfrm>
            <a:off x="2249224" y="993230"/>
            <a:ext cx="893397" cy="294290"/>
          </a:xfrm>
          <a:prstGeom prst="rect">
            <a:avLst/>
          </a:prstGeom>
          <a:solidFill>
            <a:srgbClr val="941651"/>
          </a:solidFill>
          <a:ln>
            <a:solidFill>
              <a:srgbClr val="9416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aur" panose="02030504050205020304" pitchFamily="18" charset="77"/>
              </a:rPr>
              <a:t>Farmer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3FFFAC28-F1CD-744F-A231-482F31B698B8}"/>
              </a:ext>
            </a:extLst>
          </p:cNvPr>
          <p:cNvCxnSpPr>
            <a:cxnSpLocks/>
            <a:stCxn id="5" idx="1"/>
            <a:endCxn id="4" idx="0"/>
          </p:cNvCxnSpPr>
          <p:nvPr/>
        </p:nvCxnSpPr>
        <p:spPr>
          <a:xfrm rot="10800000">
            <a:off x="7443955" y="993231"/>
            <a:ext cx="985338" cy="149771"/>
          </a:xfrm>
          <a:prstGeom prst="bentConnector4">
            <a:avLst>
              <a:gd name="adj1" fmla="val 21066"/>
              <a:gd name="adj2" fmla="val 252633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25DE5C24-5C07-6249-8E1B-BFB75C1D7C38}"/>
              </a:ext>
            </a:extLst>
          </p:cNvPr>
          <p:cNvCxnSpPr>
            <a:cxnSpLocks/>
            <a:stCxn id="4" idx="1"/>
            <a:endCxn id="6" idx="0"/>
          </p:cNvCxnSpPr>
          <p:nvPr/>
        </p:nvCxnSpPr>
        <p:spPr>
          <a:xfrm rot="10800000">
            <a:off x="5704491" y="993229"/>
            <a:ext cx="1169275" cy="147146"/>
          </a:xfrm>
          <a:prstGeom prst="bentConnector4">
            <a:avLst>
              <a:gd name="adj1" fmla="val 21910"/>
              <a:gd name="adj2" fmla="val 255356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C222E01A-984A-2E42-B167-F556997AD72A}"/>
              </a:ext>
            </a:extLst>
          </p:cNvPr>
          <p:cNvCxnSpPr>
            <a:stCxn id="6" idx="1"/>
            <a:endCxn id="7" idx="0"/>
          </p:cNvCxnSpPr>
          <p:nvPr/>
        </p:nvCxnSpPr>
        <p:spPr>
          <a:xfrm rot="10800000">
            <a:off x="4130569" y="993229"/>
            <a:ext cx="917021" cy="147147"/>
          </a:xfrm>
          <a:prstGeom prst="bentConnector4">
            <a:avLst>
              <a:gd name="adj1" fmla="val 25644"/>
              <a:gd name="adj2" fmla="val 255355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5A5DF19F-42C8-EE48-B3FA-98A8BD519F7F}"/>
              </a:ext>
            </a:extLst>
          </p:cNvPr>
          <p:cNvCxnSpPr>
            <a:stCxn id="7" idx="1"/>
            <a:endCxn id="8" idx="0"/>
          </p:cNvCxnSpPr>
          <p:nvPr/>
        </p:nvCxnSpPr>
        <p:spPr>
          <a:xfrm rot="10800000">
            <a:off x="2695923" y="993231"/>
            <a:ext cx="987946" cy="148457"/>
          </a:xfrm>
          <a:prstGeom prst="bentConnector4">
            <a:avLst>
              <a:gd name="adj1" fmla="val 27393"/>
              <a:gd name="adj2" fmla="val 253984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C21532C-A6E7-044F-8C6D-D537AF925B50}"/>
              </a:ext>
            </a:extLst>
          </p:cNvPr>
          <p:cNvSpPr txBox="1"/>
          <p:nvPr/>
        </p:nvSpPr>
        <p:spPr>
          <a:xfrm>
            <a:off x="7100470" y="428297"/>
            <a:ext cx="16139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entaur" panose="02030504050205020304" pitchFamily="18" charset="77"/>
              </a:rPr>
              <a:t>(</a:t>
            </a:r>
            <a:r>
              <a:rPr lang="en-US" sz="1600" b="1" dirty="0">
                <a:latin typeface="Centaur" panose="02030504050205020304" pitchFamily="18" charset="77"/>
              </a:rPr>
              <a:t>1</a:t>
            </a:r>
            <a:r>
              <a:rPr lang="en-US" sz="1600" dirty="0">
                <a:latin typeface="Centaur" panose="02030504050205020304" pitchFamily="18" charset="77"/>
              </a:rPr>
              <a:t>) order chocolate</a:t>
            </a:r>
          </a:p>
          <a:p>
            <a:pPr algn="ctr"/>
            <a:r>
              <a:rPr lang="en-US" sz="1600" dirty="0">
                <a:latin typeface="Centaur" panose="02030504050205020304" pitchFamily="18" charset="77"/>
              </a:rPr>
              <a:t>bars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5D552A-D516-BE43-BF0A-CAF6258D918B}"/>
              </a:ext>
            </a:extLst>
          </p:cNvPr>
          <p:cNvSpPr txBox="1"/>
          <p:nvPr/>
        </p:nvSpPr>
        <p:spPr>
          <a:xfrm>
            <a:off x="5443113" y="428297"/>
            <a:ext cx="16636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entaur" panose="02030504050205020304" pitchFamily="18" charset="77"/>
              </a:rPr>
              <a:t>(</a:t>
            </a:r>
            <a:r>
              <a:rPr lang="en-US" sz="1600" b="1" dirty="0">
                <a:latin typeface="Centaur" panose="02030504050205020304" pitchFamily="18" charset="77"/>
              </a:rPr>
              <a:t>3</a:t>
            </a:r>
            <a:r>
              <a:rPr lang="en-US" sz="1600" dirty="0">
                <a:latin typeface="Centaur" panose="02030504050205020304" pitchFamily="18" charset="77"/>
              </a:rPr>
              <a:t>) order chocolate </a:t>
            </a:r>
          </a:p>
          <a:p>
            <a:pPr algn="ctr"/>
            <a:r>
              <a:rPr lang="en-US" sz="1600" dirty="0">
                <a:latin typeface="Centaur" panose="02030504050205020304" pitchFamily="18" charset="77"/>
              </a:rPr>
              <a:t>bars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15E8A8-E802-3846-AB2D-FD4A0C788BA7}"/>
              </a:ext>
            </a:extLst>
          </p:cNvPr>
          <p:cNvSpPr txBox="1"/>
          <p:nvPr/>
        </p:nvSpPr>
        <p:spPr>
          <a:xfrm>
            <a:off x="4004111" y="399394"/>
            <a:ext cx="12290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entaur" panose="02030504050205020304" pitchFamily="18" charset="77"/>
              </a:rPr>
              <a:t>(</a:t>
            </a:r>
            <a:r>
              <a:rPr lang="en-US" sz="1600" b="1" dirty="0">
                <a:latin typeface="Centaur" panose="02030504050205020304" pitchFamily="18" charset="77"/>
              </a:rPr>
              <a:t>5</a:t>
            </a:r>
            <a:r>
              <a:rPr lang="en-US" sz="1600" dirty="0">
                <a:latin typeface="Centaur" panose="02030504050205020304" pitchFamily="18" charset="77"/>
              </a:rPr>
              <a:t>) order raw </a:t>
            </a:r>
          </a:p>
          <a:p>
            <a:pPr algn="ctr"/>
            <a:r>
              <a:rPr lang="en-US" sz="1600" dirty="0">
                <a:latin typeface="Centaur" panose="02030504050205020304" pitchFamily="18" charset="77"/>
              </a:rPr>
              <a:t>materials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A7FB40-C9B7-2E4B-B463-FEF600FEF9D6}"/>
              </a:ext>
            </a:extLst>
          </p:cNvPr>
          <p:cNvSpPr txBox="1"/>
          <p:nvPr/>
        </p:nvSpPr>
        <p:spPr>
          <a:xfrm>
            <a:off x="2580005" y="425668"/>
            <a:ext cx="12290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entaur" panose="02030504050205020304" pitchFamily="18" charset="77"/>
              </a:rPr>
              <a:t>(</a:t>
            </a:r>
            <a:r>
              <a:rPr lang="en-US" sz="1600" b="1" dirty="0">
                <a:latin typeface="Centaur" panose="02030504050205020304" pitchFamily="18" charset="77"/>
              </a:rPr>
              <a:t>7</a:t>
            </a:r>
            <a:r>
              <a:rPr lang="en-US" sz="1600" dirty="0">
                <a:latin typeface="Centaur" panose="02030504050205020304" pitchFamily="18" charset="77"/>
              </a:rPr>
              <a:t>) order raw </a:t>
            </a:r>
          </a:p>
          <a:p>
            <a:pPr algn="ctr"/>
            <a:r>
              <a:rPr lang="en-US" sz="1600" dirty="0">
                <a:latin typeface="Centaur" panose="02030504050205020304" pitchFamily="18" charset="77"/>
              </a:rPr>
              <a:t>materials 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3A4AD16-F875-A04C-8A29-992413166D4F}"/>
              </a:ext>
            </a:extLst>
          </p:cNvPr>
          <p:cNvSpPr/>
          <p:nvPr/>
        </p:nvSpPr>
        <p:spPr>
          <a:xfrm>
            <a:off x="2937643" y="2563118"/>
            <a:ext cx="1051036" cy="2627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entaur" panose="02030504050205020304" pitchFamily="18" charset="77"/>
              </a:rPr>
              <a:t>Logistics</a:t>
            </a: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2A2EDD34-F12B-7A48-9740-B0B460C55FB8}"/>
              </a:ext>
            </a:extLst>
          </p:cNvPr>
          <p:cNvCxnSpPr>
            <a:stCxn id="7" idx="2"/>
            <a:endCxn id="17" idx="3"/>
          </p:cNvCxnSpPr>
          <p:nvPr/>
        </p:nvCxnSpPr>
        <p:spPr>
          <a:xfrm rot="5400000">
            <a:off x="3357448" y="1921377"/>
            <a:ext cx="1404352" cy="141889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4E45BA27-3A54-524D-BA97-BC24317F8B09}"/>
              </a:ext>
            </a:extLst>
          </p:cNvPr>
          <p:cNvCxnSpPr>
            <a:stCxn id="17" idx="1"/>
            <a:endCxn id="8" idx="2"/>
          </p:cNvCxnSpPr>
          <p:nvPr/>
        </p:nvCxnSpPr>
        <p:spPr>
          <a:xfrm rot="10800000">
            <a:off x="2695923" y="1287521"/>
            <a:ext cx="241720" cy="1406977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4D58620-8C71-6645-8159-3A4FAD2D31FF}"/>
              </a:ext>
            </a:extLst>
          </p:cNvPr>
          <p:cNvSpPr txBox="1"/>
          <p:nvPr/>
        </p:nvSpPr>
        <p:spPr>
          <a:xfrm>
            <a:off x="2918845" y="2271729"/>
            <a:ext cx="2403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entaur" panose="02030504050205020304" pitchFamily="18" charset="77"/>
              </a:rPr>
              <a:t>(</a:t>
            </a:r>
            <a:r>
              <a:rPr lang="en-US" sz="1600" b="1" dirty="0">
                <a:latin typeface="Centaur" panose="02030504050205020304" pitchFamily="18" charset="77"/>
              </a:rPr>
              <a:t>9</a:t>
            </a:r>
            <a:r>
              <a:rPr lang="en-US" sz="1600" dirty="0">
                <a:latin typeface="Centaur" panose="02030504050205020304" pitchFamily="18" charset="77"/>
              </a:rPr>
              <a:t>) arrange shipping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EC0D70-D726-3848-8733-ACF896FE2AF4}"/>
              </a:ext>
            </a:extLst>
          </p:cNvPr>
          <p:cNvSpPr txBox="1"/>
          <p:nvPr/>
        </p:nvSpPr>
        <p:spPr>
          <a:xfrm>
            <a:off x="2120199" y="2109910"/>
            <a:ext cx="1180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entaur" panose="02030504050205020304" pitchFamily="18" charset="77"/>
              </a:rPr>
              <a:t>(</a:t>
            </a:r>
            <a:r>
              <a:rPr lang="en-US" sz="1600" b="1" dirty="0">
                <a:latin typeface="Centaur" panose="02030504050205020304" pitchFamily="18" charset="77"/>
              </a:rPr>
              <a:t>10</a:t>
            </a:r>
            <a:r>
              <a:rPr lang="en-US" sz="1600" dirty="0">
                <a:latin typeface="Centaur" panose="02030504050205020304" pitchFamily="18" charset="77"/>
              </a:rPr>
              <a:t>) pick up </a:t>
            </a:r>
            <a:br>
              <a:rPr lang="en-US" sz="1600" dirty="0">
                <a:latin typeface="Centaur" panose="02030504050205020304" pitchFamily="18" charset="77"/>
              </a:rPr>
            </a:br>
            <a:r>
              <a:rPr lang="en-US" sz="1600" dirty="0">
                <a:latin typeface="Centaur" panose="02030504050205020304" pitchFamily="18" charset="77"/>
              </a:rPr>
              <a:t>order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1C798F8-E4D2-CB46-9C21-5933DD8CBAC1}"/>
              </a:ext>
            </a:extLst>
          </p:cNvPr>
          <p:cNvCxnSpPr/>
          <p:nvPr/>
        </p:nvCxnSpPr>
        <p:spPr>
          <a:xfrm>
            <a:off x="3142621" y="1287520"/>
            <a:ext cx="541248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E1C4C45-BCE7-0B4D-801B-D2D2BF79B199}"/>
              </a:ext>
            </a:extLst>
          </p:cNvPr>
          <p:cNvCxnSpPr/>
          <p:nvPr/>
        </p:nvCxnSpPr>
        <p:spPr>
          <a:xfrm>
            <a:off x="4589079" y="1287520"/>
            <a:ext cx="458510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CCA5BD0-8245-9B47-B162-D01776C13D46}"/>
              </a:ext>
            </a:extLst>
          </p:cNvPr>
          <p:cNvCxnSpPr/>
          <p:nvPr/>
        </p:nvCxnSpPr>
        <p:spPr>
          <a:xfrm>
            <a:off x="6361391" y="1287520"/>
            <a:ext cx="512374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CECC795-F0DD-E049-B367-A837E291D46E}"/>
              </a:ext>
            </a:extLst>
          </p:cNvPr>
          <p:cNvCxnSpPr/>
          <p:nvPr/>
        </p:nvCxnSpPr>
        <p:spPr>
          <a:xfrm>
            <a:off x="8014144" y="1287520"/>
            <a:ext cx="415149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4A50E44-8B57-D041-BC4E-50A2AD322D76}"/>
              </a:ext>
            </a:extLst>
          </p:cNvPr>
          <p:cNvSpPr txBox="1"/>
          <p:nvPr/>
        </p:nvSpPr>
        <p:spPr>
          <a:xfrm>
            <a:off x="7689037" y="1221889"/>
            <a:ext cx="9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entaur" panose="02030504050205020304" pitchFamily="18" charset="77"/>
              </a:rPr>
              <a:t>(</a:t>
            </a:r>
            <a:r>
              <a:rPr lang="en-US" sz="1600" b="1" dirty="0">
                <a:latin typeface="Centaur" panose="02030504050205020304" pitchFamily="18" charset="77"/>
              </a:rPr>
              <a:t>2</a:t>
            </a:r>
            <a:r>
              <a:rPr lang="en-US" sz="1600" dirty="0">
                <a:latin typeface="Centaur" panose="02030504050205020304" pitchFamily="18" charset="77"/>
              </a:rPr>
              <a:t>) invoice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B148EC-7E38-4547-AF26-BE8B41E8CA84}"/>
              </a:ext>
            </a:extLst>
          </p:cNvPr>
          <p:cNvSpPr txBox="1"/>
          <p:nvPr/>
        </p:nvSpPr>
        <p:spPr>
          <a:xfrm>
            <a:off x="6163555" y="1238110"/>
            <a:ext cx="9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entaur" panose="02030504050205020304" pitchFamily="18" charset="77"/>
              </a:rPr>
              <a:t>(</a:t>
            </a:r>
            <a:r>
              <a:rPr lang="en-US" sz="1600" b="1" dirty="0">
                <a:latin typeface="Centaur" panose="02030504050205020304" pitchFamily="18" charset="77"/>
              </a:rPr>
              <a:t>4</a:t>
            </a:r>
            <a:r>
              <a:rPr lang="en-US" sz="1600" dirty="0">
                <a:latin typeface="Centaur" panose="02030504050205020304" pitchFamily="18" charset="77"/>
              </a:rPr>
              <a:t>) invoice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C87C60-6AC6-6149-B96A-300D76BF11F0}"/>
              </a:ext>
            </a:extLst>
          </p:cNvPr>
          <p:cNvSpPr txBox="1"/>
          <p:nvPr/>
        </p:nvSpPr>
        <p:spPr>
          <a:xfrm>
            <a:off x="4349679" y="1213229"/>
            <a:ext cx="9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entaur" panose="02030504050205020304" pitchFamily="18" charset="77"/>
              </a:rPr>
              <a:t>(</a:t>
            </a:r>
            <a:r>
              <a:rPr lang="en-US" sz="1600" b="1" dirty="0">
                <a:latin typeface="Centaur" panose="02030504050205020304" pitchFamily="18" charset="77"/>
              </a:rPr>
              <a:t>6</a:t>
            </a:r>
            <a:r>
              <a:rPr lang="en-US" sz="1600" dirty="0">
                <a:latin typeface="Centaur" panose="02030504050205020304" pitchFamily="18" charset="77"/>
              </a:rPr>
              <a:t>) invoice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EC3611-1D50-1648-8441-274B9C60E7A9}"/>
              </a:ext>
            </a:extLst>
          </p:cNvPr>
          <p:cNvSpPr txBox="1"/>
          <p:nvPr/>
        </p:nvSpPr>
        <p:spPr>
          <a:xfrm>
            <a:off x="2872373" y="1201421"/>
            <a:ext cx="9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entaur" panose="02030504050205020304" pitchFamily="18" charset="77"/>
              </a:rPr>
              <a:t>(</a:t>
            </a:r>
            <a:r>
              <a:rPr lang="en-US" sz="1600" b="1" dirty="0">
                <a:latin typeface="Centaur" panose="02030504050205020304" pitchFamily="18" charset="77"/>
              </a:rPr>
              <a:t>8</a:t>
            </a:r>
            <a:r>
              <a:rPr lang="en-US" sz="1600" dirty="0">
                <a:latin typeface="Centaur" panose="02030504050205020304" pitchFamily="18" charset="77"/>
              </a:rPr>
              <a:t>) invoice</a:t>
            </a:r>
          </a:p>
        </p:txBody>
      </p: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DAFF932A-32A5-F14F-B3EF-8709B89349F1}"/>
              </a:ext>
            </a:extLst>
          </p:cNvPr>
          <p:cNvCxnSpPr>
            <a:stCxn id="17" idx="2"/>
            <a:endCxn id="6" idx="2"/>
          </p:cNvCxnSpPr>
          <p:nvPr/>
        </p:nvCxnSpPr>
        <p:spPr>
          <a:xfrm rot="5400000" flipH="1" flipV="1">
            <a:off x="3814647" y="936033"/>
            <a:ext cx="1538356" cy="2241329"/>
          </a:xfrm>
          <a:prstGeom prst="bentConnector3">
            <a:avLst>
              <a:gd name="adj1" fmla="val -14860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B39FCFB-EC01-AC46-9DF3-C28567E92A1D}"/>
              </a:ext>
            </a:extLst>
          </p:cNvPr>
          <p:cNvSpPr txBox="1"/>
          <p:nvPr/>
        </p:nvSpPr>
        <p:spPr>
          <a:xfrm>
            <a:off x="5270381" y="2613993"/>
            <a:ext cx="10593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entaur" panose="02030504050205020304" pitchFamily="18" charset="77"/>
              </a:rPr>
              <a:t>(</a:t>
            </a:r>
            <a:r>
              <a:rPr lang="en-US" sz="1600" b="1" dirty="0">
                <a:latin typeface="Centaur" panose="02030504050205020304" pitchFamily="18" charset="77"/>
              </a:rPr>
              <a:t>11</a:t>
            </a:r>
            <a:r>
              <a:rPr lang="en-US" sz="1600" dirty="0">
                <a:latin typeface="Centaur" panose="02030504050205020304" pitchFamily="18" charset="77"/>
              </a:rPr>
              <a:t>) deliver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D360285-070E-7E4C-8A54-DB00190210DA}"/>
              </a:ext>
            </a:extLst>
          </p:cNvPr>
          <p:cNvSpPr/>
          <p:nvPr/>
        </p:nvSpPr>
        <p:spPr>
          <a:xfrm>
            <a:off x="7709925" y="2567591"/>
            <a:ext cx="1051036" cy="2627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entaur" panose="02030504050205020304" pitchFamily="18" charset="77"/>
              </a:rPr>
              <a:t>Logistics</a:t>
            </a:r>
          </a:p>
        </p:txBody>
      </p: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C583FF61-B982-0047-A800-ECDB93595841}"/>
              </a:ext>
            </a:extLst>
          </p:cNvPr>
          <p:cNvCxnSpPr>
            <a:stCxn id="4" idx="2"/>
            <a:endCxn id="32" idx="2"/>
          </p:cNvCxnSpPr>
          <p:nvPr/>
        </p:nvCxnSpPr>
        <p:spPr>
          <a:xfrm rot="16200000" flipH="1">
            <a:off x="7068285" y="1663190"/>
            <a:ext cx="1542829" cy="791488"/>
          </a:xfrm>
          <a:prstGeom prst="bentConnector3">
            <a:avLst>
              <a:gd name="adj1" fmla="val 114817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9FF9398-C9D1-AD4F-A47E-BAF16F745B80}"/>
              </a:ext>
            </a:extLst>
          </p:cNvPr>
          <p:cNvSpPr txBox="1"/>
          <p:nvPr/>
        </p:nvSpPr>
        <p:spPr>
          <a:xfrm>
            <a:off x="6260892" y="2760561"/>
            <a:ext cx="18417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entaur" panose="02030504050205020304" pitchFamily="18" charset="77"/>
              </a:rPr>
              <a:t>(</a:t>
            </a:r>
            <a:r>
              <a:rPr lang="en-US" sz="1600" b="1" dirty="0">
                <a:latin typeface="Centaur" panose="02030504050205020304" pitchFamily="18" charset="77"/>
              </a:rPr>
              <a:t>14</a:t>
            </a:r>
            <a:r>
              <a:rPr lang="en-US" sz="1600" dirty="0">
                <a:latin typeface="Centaur" panose="02030504050205020304" pitchFamily="18" charset="77"/>
              </a:rPr>
              <a:t>) arrange shipping</a:t>
            </a:r>
          </a:p>
        </p:txBody>
      </p: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E4B44F38-5D22-BD41-9D44-21F1A3B5593C}"/>
              </a:ext>
            </a:extLst>
          </p:cNvPr>
          <p:cNvCxnSpPr>
            <a:cxnSpLocks/>
            <a:stCxn id="32" idx="1"/>
            <a:endCxn id="6" idx="3"/>
          </p:cNvCxnSpPr>
          <p:nvPr/>
        </p:nvCxnSpPr>
        <p:spPr>
          <a:xfrm rot="10800000">
            <a:off x="6361391" y="1140376"/>
            <a:ext cx="1348534" cy="1558595"/>
          </a:xfrm>
          <a:prstGeom prst="bentConnector3">
            <a:avLst>
              <a:gd name="adj1" fmla="val 109700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9AA1699-CBF7-934C-BCBD-F3D83EC3AEB4}"/>
              </a:ext>
            </a:extLst>
          </p:cNvPr>
          <p:cNvSpPr txBox="1"/>
          <p:nvPr/>
        </p:nvSpPr>
        <p:spPr>
          <a:xfrm>
            <a:off x="6198438" y="2433701"/>
            <a:ext cx="11806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entaur" panose="02030504050205020304" pitchFamily="18" charset="77"/>
              </a:rPr>
              <a:t>(</a:t>
            </a:r>
            <a:r>
              <a:rPr lang="en-US" sz="1600" b="1" dirty="0">
                <a:latin typeface="Centaur" panose="02030504050205020304" pitchFamily="18" charset="77"/>
              </a:rPr>
              <a:t>15</a:t>
            </a:r>
            <a:r>
              <a:rPr lang="en-US" sz="1600" dirty="0">
                <a:latin typeface="Centaur" panose="02030504050205020304" pitchFamily="18" charset="77"/>
              </a:rPr>
              <a:t>) pick up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2AA128-D39C-0446-B5B9-6F7985A8D002}"/>
              </a:ext>
            </a:extLst>
          </p:cNvPr>
          <p:cNvSpPr txBox="1"/>
          <p:nvPr/>
        </p:nvSpPr>
        <p:spPr>
          <a:xfrm>
            <a:off x="8676940" y="2006882"/>
            <a:ext cx="10593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entaur" panose="02030504050205020304" pitchFamily="18" charset="77"/>
              </a:rPr>
              <a:t>(</a:t>
            </a:r>
            <a:r>
              <a:rPr lang="en-US" sz="1600" b="1" dirty="0">
                <a:latin typeface="Centaur" panose="02030504050205020304" pitchFamily="18" charset="77"/>
              </a:rPr>
              <a:t>16</a:t>
            </a:r>
            <a:r>
              <a:rPr lang="en-US" sz="1600" dirty="0">
                <a:latin typeface="Centaur" panose="02030504050205020304" pitchFamily="18" charset="77"/>
              </a:rPr>
              <a:t>) deliver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7B076481-05AF-6344-82FC-6F6605AEAE96}"/>
              </a:ext>
            </a:extLst>
          </p:cNvPr>
          <p:cNvCxnSpPr>
            <a:stCxn id="32" idx="3"/>
            <a:endCxn id="5" idx="2"/>
          </p:cNvCxnSpPr>
          <p:nvPr/>
        </p:nvCxnSpPr>
        <p:spPr>
          <a:xfrm flipV="1">
            <a:off x="8760961" y="1290146"/>
            <a:ext cx="325233" cy="1408824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Curved Connector 48">
            <a:extLst>
              <a:ext uri="{FF2B5EF4-FFF2-40B4-BE49-F238E27FC236}">
                <a16:creationId xmlns:a16="http://schemas.microsoft.com/office/drawing/2014/main" id="{00B113C9-BE29-724C-A67E-F6A6CFCBAE54}"/>
              </a:ext>
            </a:extLst>
          </p:cNvPr>
          <p:cNvCxnSpPr>
            <a:stCxn id="7" idx="2"/>
            <a:endCxn id="8" idx="3"/>
          </p:cNvCxnSpPr>
          <p:nvPr/>
        </p:nvCxnSpPr>
        <p:spPr>
          <a:xfrm rot="5400000" flipH="1">
            <a:off x="3561710" y="721287"/>
            <a:ext cx="149770" cy="987947"/>
          </a:xfrm>
          <a:prstGeom prst="curvedConnector4">
            <a:avLst>
              <a:gd name="adj1" fmla="val -232270"/>
              <a:gd name="adj2" fmla="val 72607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Curved Connector 53">
            <a:extLst>
              <a:ext uri="{FF2B5EF4-FFF2-40B4-BE49-F238E27FC236}">
                <a16:creationId xmlns:a16="http://schemas.microsoft.com/office/drawing/2014/main" id="{9C0222E1-AD96-8843-BEE8-8FE90793F6E2}"/>
              </a:ext>
            </a:extLst>
          </p:cNvPr>
          <p:cNvCxnSpPr>
            <a:stCxn id="6" idx="2"/>
            <a:endCxn id="7" idx="3"/>
          </p:cNvCxnSpPr>
          <p:nvPr/>
        </p:nvCxnSpPr>
        <p:spPr>
          <a:xfrm rot="5400000" flipH="1">
            <a:off x="5067961" y="650992"/>
            <a:ext cx="145833" cy="1127224"/>
          </a:xfrm>
          <a:prstGeom prst="curvedConnector4">
            <a:avLst>
              <a:gd name="adj1" fmla="val -258988"/>
              <a:gd name="adj2" fmla="val 79138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Curved Connector 56">
            <a:extLst>
              <a:ext uri="{FF2B5EF4-FFF2-40B4-BE49-F238E27FC236}">
                <a16:creationId xmlns:a16="http://schemas.microsoft.com/office/drawing/2014/main" id="{0A866E6C-E652-4E41-A531-48A4786E81BF}"/>
              </a:ext>
            </a:extLst>
          </p:cNvPr>
          <p:cNvCxnSpPr>
            <a:stCxn id="4" idx="2"/>
            <a:endCxn id="6" idx="3"/>
          </p:cNvCxnSpPr>
          <p:nvPr/>
        </p:nvCxnSpPr>
        <p:spPr>
          <a:xfrm rot="5400000" flipH="1">
            <a:off x="6829100" y="672666"/>
            <a:ext cx="147145" cy="1082564"/>
          </a:xfrm>
          <a:prstGeom prst="curvedConnector4">
            <a:avLst>
              <a:gd name="adj1" fmla="val -243168"/>
              <a:gd name="adj2" fmla="val 76335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7584665-54B9-E04E-8037-30C91065BCF2}"/>
              </a:ext>
            </a:extLst>
          </p:cNvPr>
          <p:cNvSpPr txBox="1"/>
          <p:nvPr/>
        </p:nvSpPr>
        <p:spPr>
          <a:xfrm>
            <a:off x="4514925" y="1518437"/>
            <a:ext cx="1287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entaur" panose="02030504050205020304" pitchFamily="18" charset="77"/>
              </a:rPr>
              <a:t>(</a:t>
            </a:r>
            <a:r>
              <a:rPr lang="en-US" sz="1600" b="1" dirty="0">
                <a:latin typeface="Centaur" panose="02030504050205020304" pitchFamily="18" charset="77"/>
              </a:rPr>
              <a:t>12</a:t>
            </a:r>
            <a:r>
              <a:rPr lang="en-US" sz="1600" dirty="0">
                <a:latin typeface="Centaur" panose="02030504050205020304" pitchFamily="18" charset="77"/>
              </a:rPr>
              <a:t>) proof of </a:t>
            </a:r>
            <a:br>
              <a:rPr lang="en-US" sz="1600" dirty="0">
                <a:latin typeface="Centaur" panose="02030504050205020304" pitchFamily="18" charset="77"/>
              </a:rPr>
            </a:br>
            <a:r>
              <a:rPr lang="en-US" sz="1600" dirty="0">
                <a:latin typeface="Centaur" panose="02030504050205020304" pitchFamily="18" charset="77"/>
              </a:rPr>
              <a:t>payment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856B337-9390-5C45-A17B-366AEA04B19C}"/>
              </a:ext>
            </a:extLst>
          </p:cNvPr>
          <p:cNvSpPr txBox="1"/>
          <p:nvPr/>
        </p:nvSpPr>
        <p:spPr>
          <a:xfrm>
            <a:off x="2897681" y="1513776"/>
            <a:ext cx="1287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entaur" panose="02030504050205020304" pitchFamily="18" charset="77"/>
              </a:rPr>
              <a:t>(</a:t>
            </a:r>
            <a:r>
              <a:rPr lang="en-US" sz="1600" b="1" dirty="0">
                <a:latin typeface="Centaur" panose="02030504050205020304" pitchFamily="18" charset="77"/>
              </a:rPr>
              <a:t>13</a:t>
            </a:r>
            <a:r>
              <a:rPr lang="en-US" sz="1600" dirty="0">
                <a:latin typeface="Centaur" panose="02030504050205020304" pitchFamily="18" charset="77"/>
              </a:rPr>
              <a:t>) proof of </a:t>
            </a:r>
            <a:br>
              <a:rPr lang="en-US" sz="1600" dirty="0">
                <a:latin typeface="Centaur" panose="02030504050205020304" pitchFamily="18" charset="77"/>
              </a:rPr>
            </a:br>
            <a:r>
              <a:rPr lang="en-US" sz="1600" dirty="0">
                <a:latin typeface="Centaur" panose="02030504050205020304" pitchFamily="18" charset="77"/>
              </a:rPr>
              <a:t>payment</a:t>
            </a:r>
          </a:p>
        </p:txBody>
      </p:sp>
      <p:cxnSp>
        <p:nvCxnSpPr>
          <p:cNvPr id="40" name="Curved Connector 39">
            <a:extLst>
              <a:ext uri="{FF2B5EF4-FFF2-40B4-BE49-F238E27FC236}">
                <a16:creationId xmlns:a16="http://schemas.microsoft.com/office/drawing/2014/main" id="{573D92B8-3BD7-FD4E-8AD5-8ABF13D146E7}"/>
              </a:ext>
            </a:extLst>
          </p:cNvPr>
          <p:cNvCxnSpPr>
            <a:stCxn id="5" idx="2"/>
            <a:endCxn id="4" idx="3"/>
          </p:cNvCxnSpPr>
          <p:nvPr/>
        </p:nvCxnSpPr>
        <p:spPr>
          <a:xfrm rot="5400000" flipH="1">
            <a:off x="8475283" y="679236"/>
            <a:ext cx="149771" cy="1072050"/>
          </a:xfrm>
          <a:prstGeom prst="curvedConnector4">
            <a:avLst>
              <a:gd name="adj1" fmla="val -225632"/>
              <a:gd name="adj2" fmla="val 80638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1A9D5CD-061C-844B-BC1D-C01513865715}"/>
              </a:ext>
            </a:extLst>
          </p:cNvPr>
          <p:cNvSpPr txBox="1"/>
          <p:nvPr/>
        </p:nvSpPr>
        <p:spPr>
          <a:xfrm>
            <a:off x="7858066" y="1504146"/>
            <a:ext cx="1287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entaur" panose="02030504050205020304" pitchFamily="18" charset="77"/>
              </a:rPr>
              <a:t>(</a:t>
            </a:r>
            <a:r>
              <a:rPr lang="en-US" sz="1600" b="1" dirty="0">
                <a:latin typeface="Centaur" panose="02030504050205020304" pitchFamily="18" charset="77"/>
              </a:rPr>
              <a:t>17</a:t>
            </a:r>
            <a:r>
              <a:rPr lang="en-US" sz="1600" dirty="0">
                <a:latin typeface="Centaur" panose="02030504050205020304" pitchFamily="18" charset="77"/>
              </a:rPr>
              <a:t>) proof of </a:t>
            </a:r>
            <a:br>
              <a:rPr lang="en-US" sz="1600" dirty="0">
                <a:latin typeface="Centaur" panose="02030504050205020304" pitchFamily="18" charset="77"/>
              </a:rPr>
            </a:br>
            <a:r>
              <a:rPr lang="en-US" sz="1600" dirty="0">
                <a:latin typeface="Centaur" panose="02030504050205020304" pitchFamily="18" charset="77"/>
              </a:rPr>
              <a:t>payment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B3091B-7B29-9949-AACE-FB032DF13F13}"/>
              </a:ext>
            </a:extLst>
          </p:cNvPr>
          <p:cNvSpPr txBox="1"/>
          <p:nvPr/>
        </p:nvSpPr>
        <p:spPr>
          <a:xfrm>
            <a:off x="6246721" y="1519362"/>
            <a:ext cx="1287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entaur" panose="02030504050205020304" pitchFamily="18" charset="77"/>
              </a:rPr>
              <a:t>(</a:t>
            </a:r>
            <a:r>
              <a:rPr lang="en-US" sz="1600" b="1" dirty="0">
                <a:latin typeface="Centaur" panose="02030504050205020304" pitchFamily="18" charset="77"/>
              </a:rPr>
              <a:t>18</a:t>
            </a:r>
            <a:r>
              <a:rPr lang="en-US" sz="1600" dirty="0">
                <a:latin typeface="Centaur" panose="02030504050205020304" pitchFamily="18" charset="77"/>
              </a:rPr>
              <a:t>) proof of </a:t>
            </a:r>
            <a:br>
              <a:rPr lang="en-US" sz="1600" dirty="0">
                <a:latin typeface="Centaur" panose="02030504050205020304" pitchFamily="18" charset="77"/>
              </a:rPr>
            </a:br>
            <a:r>
              <a:rPr lang="en-US" sz="1600" dirty="0">
                <a:latin typeface="Centaur" panose="02030504050205020304" pitchFamily="18" charset="77"/>
              </a:rPr>
              <a:t>payment</a:t>
            </a:r>
          </a:p>
        </p:txBody>
      </p:sp>
      <p:cxnSp>
        <p:nvCxnSpPr>
          <p:cNvPr id="56" name="Curved Connector 55">
            <a:extLst>
              <a:ext uri="{FF2B5EF4-FFF2-40B4-BE49-F238E27FC236}">
                <a16:creationId xmlns:a16="http://schemas.microsoft.com/office/drawing/2014/main" id="{BF4BF2F7-951B-B941-A500-BF66EBC73519}"/>
              </a:ext>
            </a:extLst>
          </p:cNvPr>
          <p:cNvCxnSpPr>
            <a:stCxn id="5" idx="0"/>
            <a:endCxn id="5" idx="3"/>
          </p:cNvCxnSpPr>
          <p:nvPr/>
        </p:nvCxnSpPr>
        <p:spPr>
          <a:xfrm rot="16200000" flipH="1">
            <a:off x="9341071" y="740978"/>
            <a:ext cx="147145" cy="656901"/>
          </a:xfrm>
          <a:prstGeom prst="curvedConnector4">
            <a:avLst>
              <a:gd name="adj1" fmla="val -155357"/>
              <a:gd name="adj2" fmla="val 134800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D4BC898-9F9B-3449-AC7F-82EC5701D98E}"/>
              </a:ext>
            </a:extLst>
          </p:cNvPr>
          <p:cNvSpPr txBox="1"/>
          <p:nvPr/>
        </p:nvSpPr>
        <p:spPr>
          <a:xfrm>
            <a:off x="8682857" y="394096"/>
            <a:ext cx="15017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entaur" panose="02030504050205020304" pitchFamily="18" charset="77"/>
              </a:rPr>
              <a:t>(</a:t>
            </a:r>
            <a:r>
              <a:rPr lang="en-US" sz="1600" b="1" dirty="0">
                <a:latin typeface="Centaur" panose="02030504050205020304" pitchFamily="18" charset="77"/>
              </a:rPr>
              <a:t>18</a:t>
            </a:r>
            <a:r>
              <a:rPr lang="en-US" sz="1600" dirty="0">
                <a:latin typeface="Centaur" panose="02030504050205020304" pitchFamily="18" charset="77"/>
              </a:rPr>
              <a:t>) sales record </a:t>
            </a:r>
            <a:br>
              <a:rPr lang="en-US" sz="1600" dirty="0">
                <a:latin typeface="Centaur" panose="02030504050205020304" pitchFamily="18" charset="77"/>
              </a:rPr>
            </a:br>
            <a:r>
              <a:rPr lang="en-US" sz="1600" dirty="0">
                <a:latin typeface="Centaur" panose="02030504050205020304" pitchFamily="18" charset="77"/>
              </a:rPr>
              <a:t>for each customer</a:t>
            </a:r>
          </a:p>
        </p:txBody>
      </p:sp>
    </p:spTree>
    <p:extLst>
      <p:ext uri="{BB962C8B-B14F-4D97-AF65-F5344CB8AC3E}">
        <p14:creationId xmlns:p14="http://schemas.microsoft.com/office/powerpoint/2010/main" val="3812715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117</Words>
  <Application>Microsoft Macintosh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Centaur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Senthilnathan Natarajan</dc:creator>
  <cp:lastModifiedBy>Senthilnathan Natarajan</cp:lastModifiedBy>
  <cp:revision>7</cp:revision>
  <dcterms:created xsi:type="dcterms:W3CDTF">2019-11-20T08:54:38Z</dcterms:created>
  <dcterms:modified xsi:type="dcterms:W3CDTF">2019-11-20T16:07:37Z</dcterms:modified>
</cp:coreProperties>
</file>